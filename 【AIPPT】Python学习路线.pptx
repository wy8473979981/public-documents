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 type="screen16x9"/>
  <p:notesSz cx="6858000" cy="9144000"/>
  <p:defaultTextStyle>
    <a:lvl1pPr marL="0" lvl="0" algn="l" defTabSz="457200">
      <a:defRPr sz="1800" kern="1200">
        <a:solidFill>
          <a:schemeClr val="tx1"/>
        </a:solidFill>
        <a:latin typeface="Calibri"/>
        <a:ea typeface="等线"/>
      </a:defRPr>
    </a:lvl1pPr>
    <a:lvl2pPr marL="457200" lvl="1" algn="l" defTabSz="457200">
      <a:defRPr sz="1800" kern="1200">
        <a:solidFill>
          <a:schemeClr val="tx1"/>
        </a:solidFill>
        <a:latin typeface="Calibri"/>
        <a:ea typeface="等线"/>
      </a:defRPr>
    </a:lvl2pPr>
    <a:lvl3pPr marL="914400" lvl="2" algn="l" defTabSz="457200">
      <a:defRPr sz="1800" kern="1200">
        <a:solidFill>
          <a:schemeClr val="tx1"/>
        </a:solidFill>
        <a:latin typeface="Calibri"/>
        <a:ea typeface="等线"/>
      </a:defRPr>
    </a:lvl3pPr>
    <a:lvl4pPr marL="1371600" lvl="3" algn="l" defTabSz="457200">
      <a:defRPr sz="1800" kern="1200">
        <a:solidFill>
          <a:schemeClr val="tx1"/>
        </a:solidFill>
        <a:latin typeface="Calibri"/>
        <a:ea typeface="等线"/>
      </a:defRPr>
    </a:lvl4pPr>
    <a:lvl5pPr marL="1828800" lvl="4" algn="l" defTabSz="457200">
      <a:defRPr sz="1800" kern="1200">
        <a:solidFill>
          <a:schemeClr val="tx1"/>
        </a:solidFill>
        <a:latin typeface="Calibri"/>
        <a:ea typeface="等线"/>
      </a:defRPr>
    </a:lvl5pPr>
    <a:lvl6pPr marL="2286000" lvl="5" algn="l" defTabSz="457200">
      <a:defRPr sz="1800" kern="1200">
        <a:solidFill>
          <a:schemeClr val="tx1"/>
        </a:solidFill>
        <a:latin typeface="Calibri"/>
        <a:ea typeface="等线"/>
      </a:defRPr>
    </a:lvl6pPr>
    <a:lvl7pPr marL="2743200" lvl="6" algn="l" defTabSz="457200">
      <a:defRPr sz="1800" kern="1200">
        <a:solidFill>
          <a:schemeClr val="tx1"/>
        </a:solidFill>
        <a:latin typeface="Calibri"/>
        <a:ea typeface="等线"/>
      </a:defRPr>
    </a:lvl7pPr>
    <a:lvl8pPr marL="3200400" lvl="7" algn="l" defTabSz="457200">
      <a:defRPr sz="1800" kern="1200">
        <a:solidFill>
          <a:schemeClr val="tx1"/>
        </a:solidFill>
        <a:latin typeface="Calibri"/>
        <a:ea typeface="等线"/>
      </a:defRPr>
    </a:lvl8pPr>
    <a:lvl9pPr marL="3657600" lvl="8" algn="l" defTabSz="457200">
      <a:defRPr sz="1800" kern="1200">
        <a:solidFill>
          <a:schemeClr val="tx1"/>
        </a:solidFill>
        <a:latin typeface="Calibri"/>
        <a:ea typeface="等线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21" Type="http://schemas.openxmlformats.org/officeDocument/2006/relationships/tableStyles" Target="tableStyles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Relationship Id="rId2" Type="http://schemas.openxmlformats.org/officeDocument/2006/relationships/image" Target="media/image2.png" /><Relationship Id="rId1" Type="http://schemas.openxmlformats.org/officeDocument/2006/relationships/image" Target="media/image1.png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Master" Target="../slideMasters/slideMaster1.xml" /><Relationship Id="rId1" Type="http://schemas.openxmlformats.org/officeDocument/2006/relationships/image" Target="media/image1.png" /></Relationships>
</file>

<file path=ppt/slideLayouts/slideLayout1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8907"/>
          <a:stretch/>
        </p:blipFill>
        <p:spPr>
          <a:xfrm flipH="true">
            <a:off x="0" y="-1"/>
            <a:ext cx="12192000" cy="6858001"/>
          </a:xfrm>
          <a:prstGeom prst="rect"/>
        </p:spPr>
      </p:pic>
      <p:grpSp>
        <p:nvGrpSpPr>
          <p:cNvPr id="3" name="组合 10"/>
          <p:cNvGrpSpPr/>
          <p:nvPr/>
        </p:nvGrpSpPr>
        <p:grpSpPr>
          <a:xfrm>
            <a:off x="7186554" y="1072425"/>
            <a:ext cx="2854325" cy="431800"/>
            <a:chOff x="4928507" y="1478260"/>
            <a:chExt cx="2855217" cy="432000"/>
          </a:xfrm>
          <a:solidFill>
            <a:srgbClr val="36796A"/>
          </a:solidFill>
        </p:grpSpPr>
        <p:sp>
          <p:nvSpPr>
            <p:cNvPr id="4" name="椭圆 8"/>
            <p:cNvSpPr>
              <a:spLocks noChangeAspect="true"/>
            </p:cNvSpPr>
            <p:nvPr/>
          </p:nvSpPr>
          <p:spPr>
            <a:xfrm>
              <a:off x="5736246" y="1478260"/>
              <a:ext cx="432000" cy="432000"/>
            </a:xfrm>
            <a:prstGeom prst="ellipse"/>
            <a:grpFill/>
            <a:ln w="19050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444500" dist="254000" dir="8100000" algn="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5" name="原创设计师QQ598969553      _4"/>
            <p:cNvSpPr/>
            <p:nvPr/>
          </p:nvSpPr>
          <p:spPr>
            <a:xfrm>
              <a:off x="4928507" y="1478260"/>
              <a:ext cx="431935" cy="432000"/>
            </a:xfrm>
            <a:prstGeom prst="ellipse"/>
            <a:grpFill/>
            <a:ln w="19050">
              <a:solidFill>
                <a:schemeClr val="bg1"/>
              </a:solidFill>
              <a:prstDash val="solid"/>
              <a:miter lim="800000"/>
            </a:ln>
            <a:effectLst>
              <a:outerShdw blurRad="444500" dist="254000" dir="8100000" algn="c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18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6" name="椭圆 10"/>
            <p:cNvSpPr>
              <a:spLocks noChangeAspect="true"/>
            </p:cNvSpPr>
            <p:nvPr/>
          </p:nvSpPr>
          <p:spPr>
            <a:xfrm>
              <a:off x="7351724" y="1478260"/>
              <a:ext cx="432000" cy="432000"/>
            </a:xfrm>
            <a:prstGeom prst="ellipse"/>
            <a:grpFill/>
            <a:ln w="19050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444500" dist="254000" dir="8100000" algn="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7" name="原创设计师QQ598969553      _4"/>
            <p:cNvSpPr/>
            <p:nvPr/>
          </p:nvSpPr>
          <p:spPr>
            <a:xfrm>
              <a:off x="6543499" y="1478260"/>
              <a:ext cx="431935" cy="432000"/>
            </a:xfrm>
            <a:prstGeom prst="ellipse"/>
            <a:grpFill/>
            <a:ln w="19050">
              <a:solidFill>
                <a:schemeClr val="bg1"/>
              </a:solidFill>
              <a:prstDash val="solid"/>
              <a:miter lim="800000"/>
            </a:ln>
            <a:effectLst>
              <a:outerShdw blurRad="444500" dist="254000" dir="8100000" algn="c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18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8" name="图片 16"/>
          <p:cNvPicPr>
            <a:picLocks noChangeAspect="true"/>
          </p:cNvPicPr>
          <p:nvPr/>
        </p:nvPicPr>
        <p:blipFill rotWithShape="true"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290" r="70130" b="48355"/>
          <a:stretch/>
        </p:blipFill>
        <p:spPr>
          <a:xfrm>
            <a:off x="1" y="0"/>
            <a:ext cx="3287210" cy="3541853"/>
          </a:xfrm>
          <a:prstGeom prst="rect"/>
        </p:spPr>
      </p:pic>
    </p:spTree>
  </p:cSld>
  <p:clrMapOvr>
    <a:masterClrMapping/>
  </p:clrMapOvr>
</p:sldLayout>
</file>

<file path=ppt/slideLayouts/slideLayout2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目录页"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2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55075"/>
          <a:stretch/>
        </p:blipFill>
        <p:spPr>
          <a:xfrm>
            <a:off x="7219030" y="0"/>
            <a:ext cx="4992547" cy="6858000"/>
          </a:xfrm>
          <a:prstGeom prst="rect"/>
        </p:spPr>
      </p:pic>
      <p:pic>
        <p:nvPicPr>
          <p:cNvPr id="11" name="图片 3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290" r="70130" b="48355"/>
          <a:stretch/>
        </p:blipFill>
        <p:spPr>
          <a:xfrm>
            <a:off x="1" y="0"/>
            <a:ext cx="3287210" cy="3541853"/>
          </a:xfrm>
          <a:prstGeom prst="rect"/>
        </p:spPr>
      </p:pic>
      <p:grpSp>
        <p:nvGrpSpPr>
          <p:cNvPr id="12" name="组合 36"/>
          <p:cNvGrpSpPr/>
          <p:nvPr/>
        </p:nvGrpSpPr>
        <p:grpSpPr>
          <a:xfrm>
            <a:off x="1555680" y="2642118"/>
            <a:ext cx="2084387" cy="2084388"/>
            <a:chOff x="1655098" y="2803124"/>
            <a:chExt cx="1607335" cy="1607333"/>
          </a:xfrm>
        </p:grpSpPr>
        <p:sp>
          <p:nvSpPr>
            <p:cNvPr id="13" name="椭圆 25"/>
            <p:cNvSpPr/>
            <p:nvPr/>
          </p:nvSpPr>
          <p:spPr>
            <a:xfrm>
              <a:off x="1655098" y="2803124"/>
              <a:ext cx="1607335" cy="1607333"/>
            </a:xfrm>
            <a:prstGeom prst="ellipse"/>
            <a:gradFill flip="none" rotWithShape="true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true"/>
            </a:gradFill>
            <a:ln w="25400" cap="flat" cmpd="sng">
              <a:solidFill>
                <a:srgbClr val="FFFFFF"/>
              </a:solidFill>
              <a:prstDash val="solid"/>
              <a:miter lim="800000"/>
            </a:ln>
            <a:effectLst>
              <a:outerShdw blurRad="254000" dist="190500" dir="8100000" algn="tr">
                <a:srgbClr val="000000">
                  <a:alpha val="15000"/>
                </a:srgbClr>
              </a:outerShdw>
            </a:effectLst>
          </p:spPr>
          <p:txBody>
            <a:bodyPr anchor="ctr"/>
            <a:p>
              <a:pPr marL="0" lvl="0" indent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135" b="false" i="false" u="none" strike="noStrike" kern="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4" name="椭圆 26"/>
            <p:cNvSpPr/>
            <p:nvPr/>
          </p:nvSpPr>
          <p:spPr>
            <a:xfrm>
              <a:off x="1782481" y="2930506"/>
              <a:ext cx="1352569" cy="1352569"/>
            </a:xfrm>
            <a:prstGeom prst="ellipse"/>
            <a:solidFill>
              <a:srgbClr val="36796A"/>
            </a:solidFill>
            <a:ln w="12700" cap="flat" cmpd="sng">
              <a:noFill/>
              <a:prstDash val="solid"/>
              <a:miter lim="800000"/>
            </a:ln>
            <a:effectLst>
              <a:innerShdw blurRad="114300">
                <a:srgbClr val="000000"/>
              </a:innerShdw>
            </a:effectLst>
          </p:spPr>
          <p:txBody>
            <a:bodyPr anchor="ctr"/>
            <a:p>
              <a:pPr marL="0" lvl="0" indent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0" spc="0" baseline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节标题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58"/>
          <p:cNvGrpSpPr/>
          <p:nvPr/>
        </p:nvGrpSpPr>
        <p:grpSpPr>
          <a:xfrm>
            <a:off x="2785744" y="2386806"/>
            <a:ext cx="2082800" cy="2084388"/>
            <a:chOff x="1655098" y="2803124"/>
            <a:chExt cx="1607335" cy="1607333"/>
          </a:xfrm>
        </p:grpSpPr>
        <p:sp>
          <p:nvSpPr>
            <p:cNvPr id="17" name="椭圆 2"/>
            <p:cNvSpPr/>
            <p:nvPr/>
          </p:nvSpPr>
          <p:spPr>
            <a:xfrm>
              <a:off x="1655098" y="2803124"/>
              <a:ext cx="1607335" cy="1607333"/>
            </a:xfrm>
            <a:prstGeom prst="ellipse"/>
            <a:gradFill flip="none" rotWithShape="true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true"/>
            </a:gradFill>
            <a:ln w="25400">
              <a:solidFill>
                <a:schemeClr val="bg1"/>
              </a:solidFill>
              <a:prstDash val="solid"/>
              <a:miter lim="800000"/>
            </a:ln>
            <a:effectLst>
              <a:outerShdw blurRad="254000" dist="190500" dir="8100000" algn="tr">
                <a:srgbClr val="000000">
                  <a:alpha val="15000"/>
                </a:srgbClr>
              </a:outerShdw>
            </a:effectLst>
          </p:spPr>
          <p:txBody>
            <a:bodyPr anchor="ctr"/>
            <a:p>
              <a:pPr marL="0" lvl="0" indent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135" b="false" i="false" u="none" strike="noStrike" kern="1200" spc="0" baseline="0">
                <a:ln>
                  <a:noFill/>
                </a:ln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椭圆 3"/>
            <p:cNvSpPr/>
            <p:nvPr/>
          </p:nvSpPr>
          <p:spPr>
            <a:xfrm>
              <a:off x="1782481" y="2930506"/>
              <a:ext cx="1352569" cy="1352569"/>
            </a:xfrm>
            <a:prstGeom prst="ellipse"/>
            <a:solidFill>
              <a:srgbClr val="36796A"/>
            </a:solidFill>
            <a:ln w="12700">
              <a:noFill/>
              <a:prstDash val="solid"/>
              <a:miter lim="800000"/>
            </a:ln>
            <a:effectLst>
              <a:innerShdw blurRad="114300">
                <a:srgbClr val="000000"/>
              </a:innerShdw>
            </a:effectLst>
          </p:spPr>
          <p:txBody>
            <a:bodyPr anchor="ctr"/>
            <a:p>
              <a:pPr marL="0" lvl="0" indent="0" algn="ct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1200" spc="0" baseline="0">
                <a:ln>
                  <a:noFill/>
                </a:ln>
                <a:solidFill>
                  <a:schemeClr val="lt1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9" name="矩形 5"/>
          <p:cNvSpPr/>
          <p:nvPr/>
        </p:nvSpPr>
        <p:spPr>
          <a:xfrm>
            <a:off x="5238433" y="2740819"/>
            <a:ext cx="92075" cy="1489075"/>
          </a:xfrm>
          <a:prstGeom prst="rect"/>
          <a:solidFill>
            <a:schemeClr val="tx1">
              <a:lumMod val="85000"/>
              <a:lumOff val="15000"/>
            </a:schemeClr>
          </a:solidFill>
          <a:ln w="12700">
            <a:noFill/>
            <a:prstDash val="solid"/>
            <a:miter lim="800000"/>
          </a:ln>
        </p:spPr>
        <p:txBody>
          <a:bodyPr anchor="ctr"/>
          <a:p>
            <a:pPr marL="0" lvl="0" indent="0"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</a:pPr>
            <a:endParaRPr lang="zh-CN" sz="2000" b="false" i="false" u="none" strike="noStrike" kern="1200" spc="0" baseline="0">
              <a:ln>
                <a:noFill/>
              </a:ln>
              <a:solidFill>
                <a:schemeClr val="lt1"/>
              </a:solidFill>
              <a:latin typeface="微软雅黑"/>
              <a:ea typeface="微软雅黑"/>
            </a:endParaRPr>
          </a:p>
        </p:txBody>
      </p:sp>
      <p:pic>
        <p:nvPicPr>
          <p:cNvPr id="20" name="图片 9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55075" t="65197"/>
          <a:stretch/>
        </p:blipFill>
        <p:spPr>
          <a:xfrm>
            <a:off x="7219030" y="4471194"/>
            <a:ext cx="4992547" cy="2386806"/>
          </a:xfrm>
          <a:prstGeom prst="rect"/>
        </p:spPr>
      </p:pic>
      <p:pic>
        <p:nvPicPr>
          <p:cNvPr id="21" name="图片 10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57765" b="39484"/>
          <a:stretch/>
        </p:blipFill>
        <p:spPr>
          <a:xfrm flipH="true">
            <a:off x="-1" y="0"/>
            <a:ext cx="4429579" cy="3916680"/>
          </a:xfrm>
          <a:prstGeom prst="rect"/>
        </p:spPr>
      </p:pic>
    </p:spTree>
  </p:cSld>
  <p:clrMapOvr>
    <a:masterClrMapping/>
  </p:clrMapOvr>
</p:sldLayout>
</file>

<file path=ppt/slideLayouts/slideLayout4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空白页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72017" t="8907" r="11783" b="76446"/>
          <a:stretch/>
        </p:blipFill>
        <p:spPr>
          <a:xfrm flipH="true">
            <a:off x="-173223" y="0"/>
            <a:ext cx="1975118" cy="1102626"/>
          </a:xfrm>
          <a:prstGeom prst="rect"/>
        </p:spPr>
      </p:pic>
    </p:spTree>
  </p:cSld>
  <p:clrMapOvr>
    <a:masterClrMapping/>
  </p:clrMapOvr>
</p:sldLayout>
</file>

<file path=ppt/slideLayouts/slideLayout5.xml><?xml version="1.0" encoding="utf-8"?>
<p:sldLayout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 name="结束页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"/>
          <p:cNvPicPr>
            <a:picLocks noChangeAspect="true"/>
          </p:cNvPicPr>
          <p:nvPr/>
        </p:nvPicPr>
        <p:blipFill rotWithShape="true">
          <a:blip r:embed="rId1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t="8907"/>
          <a:stretch/>
        </p:blipFill>
        <p:spPr>
          <a:xfrm flipH="true">
            <a:off x="0" y="-1"/>
            <a:ext cx="12192000" cy="6858001"/>
          </a:xfrm>
          <a:prstGeom prst="rect"/>
        </p:spPr>
      </p:pic>
      <p:grpSp>
        <p:nvGrpSpPr>
          <p:cNvPr id="26" name="组合 10"/>
          <p:cNvGrpSpPr/>
          <p:nvPr/>
        </p:nvGrpSpPr>
        <p:grpSpPr>
          <a:xfrm>
            <a:off x="7186554" y="1072425"/>
            <a:ext cx="2854325" cy="431800"/>
            <a:chOff x="4928507" y="1478260"/>
            <a:chExt cx="2855217" cy="432000"/>
          </a:xfrm>
          <a:solidFill>
            <a:srgbClr val="36796A"/>
          </a:solidFill>
        </p:grpSpPr>
        <p:sp>
          <p:nvSpPr>
            <p:cNvPr id="27" name="椭圆 8"/>
            <p:cNvSpPr>
              <a:spLocks noChangeAspect="true"/>
            </p:cNvSpPr>
            <p:nvPr/>
          </p:nvSpPr>
          <p:spPr>
            <a:xfrm>
              <a:off x="5736246" y="1478260"/>
              <a:ext cx="432000" cy="432000"/>
            </a:xfrm>
            <a:prstGeom prst="ellipse"/>
            <a:grpFill/>
            <a:ln w="19050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444500" dist="254000" dir="8100000" algn="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8" name="原创设计师QQ598969553      _4"/>
            <p:cNvSpPr/>
            <p:nvPr/>
          </p:nvSpPr>
          <p:spPr>
            <a:xfrm>
              <a:off x="4928507" y="1478260"/>
              <a:ext cx="431935" cy="432000"/>
            </a:xfrm>
            <a:prstGeom prst="ellipse"/>
            <a:grpFill/>
            <a:ln w="19050">
              <a:solidFill>
                <a:schemeClr val="bg1"/>
              </a:solidFill>
              <a:prstDash val="solid"/>
              <a:miter lim="800000"/>
            </a:ln>
            <a:effectLst>
              <a:outerShdw blurRad="444500" dist="254000" dir="8100000" algn="c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18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29" name="椭圆 10"/>
            <p:cNvSpPr>
              <a:spLocks noChangeAspect="true"/>
            </p:cNvSpPr>
            <p:nvPr/>
          </p:nvSpPr>
          <p:spPr>
            <a:xfrm>
              <a:off x="7351724" y="1478260"/>
              <a:ext cx="432000" cy="432000"/>
            </a:xfrm>
            <a:prstGeom prst="ellipse"/>
            <a:grpFill/>
            <a:ln w="19050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>
              <a:outerShdw blurRad="444500" dist="254000" dir="8100000" algn="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24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30" name="原创设计师QQ598969553      _4"/>
            <p:cNvSpPr/>
            <p:nvPr/>
          </p:nvSpPr>
          <p:spPr>
            <a:xfrm>
              <a:off x="6543499" y="1478260"/>
              <a:ext cx="431935" cy="432000"/>
            </a:xfrm>
            <a:prstGeom prst="ellipse"/>
            <a:grpFill/>
            <a:ln w="19050">
              <a:solidFill>
                <a:schemeClr val="bg1"/>
              </a:solidFill>
              <a:prstDash val="solid"/>
              <a:miter lim="800000"/>
            </a:ln>
            <a:effectLst>
              <a:outerShdw blurRad="444500" dist="254000" dir="8100000" algn="ctr">
                <a:srgbClr val="000000">
                  <a:alpha val="50000"/>
                </a:srgbClr>
              </a:outerShdw>
            </a:effectLst>
          </p:spPr>
          <p:txBody>
            <a:bodyPr anchor="ctr"/>
            <a:p>
              <a:pPr marL="0" lvl="0" indent="0" algn="r" defTabSz="914400">
                <a:lnSpc>
                  <a:spcPct val="130000"/>
                </a:lnSpc>
                <a:spcBef>
                  <a:spcPct val="1"/>
                </a:spcBef>
                <a:spcAft>
                  <a:spcPct val="1"/>
                </a:spcAft>
                <a:buClrTx/>
                <a:buSzTx/>
                <a:buFontTx/>
                <a:buNone/>
              </a:pPr>
              <a:endParaRPr lang="zh-CN" sz="1800" b="false" i="false" u="none" strike="noStrike" kern="1200" spc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31" name="图片 16"/>
          <p:cNvPicPr>
            <a:picLocks noChangeAspect="true"/>
          </p:cNvPicPr>
          <p:nvPr/>
        </p:nvPicPr>
        <p:blipFill rotWithShape="true">
          <a:blip r:embed="rId2">
            <a:lum bright="0" contrast="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290" r="70130" b="48355"/>
          <a:stretch/>
        </p:blipFill>
        <p:spPr>
          <a:xfrm>
            <a:off x="1" y="0"/>
            <a:ext cx="3287210" cy="3541853"/>
          </a:xfrm>
          <a:prstGeom prst="rect"/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Relationship Id="rId5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</p:sldLayoutIdLst>
  <p:txStyles>
    <p:titleStyle>
      <a:lvl1pPr lvl="0" algn="l" defTabSz="914400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Calibri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Calibri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Calibri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Calibri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Calibri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Calibri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Calibri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Calibri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Calibri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Calibri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Calibri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Calibri"/>
          <a:ea typeface="等线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4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4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4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4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5.xml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4.xml" /><Relationship Id="rId1" Type="http://schemas.openxmlformats.org/officeDocument/2006/relationships/hyperlink" Target="https://docs.qq.com/ai/slide" TargetMode="Externa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{&quot;continueWritingContext&quot;:{&quot;outline&quot;:&quot;# Python学习路线\n## 基础语法入门学习\n### 环境搭建与配置\n- 安装Python解释器\n- 配置开发环境\n- 验证环境可用性\n### 基本语法规则\n- 变量定义与赋值\n- 基础数据类型\n- 运算符使用\n- 注释编写规范\n### 流程控制语句\n- 条件判断语句\n- 循环结构使用\n- 跳转语句应用\n- 嵌套结构处理\n- 语句执行逻辑\n- 流程优化方法\n## 核心进阶知识掌握\n### 函数与模块使用\n- 函数定义与调用\n- 参数传递方式\n- 模块导入方法\n### 面向对象编程\n- 类与对象定义\n- 继承多态实现\n- 封装特性应用\n- 类方法使用\n### 异常处理机制\n- 异常捕获语句\n- 自定义异常类\n- 异常抛出逻辑\n- 资源管理方式\n- 调试技巧掌握\n- 日志记录方法\n## 常用库与工具应用\n### 数据处理库使用\n- NumPy数组操作\n- Pandas数据清洗\n- Matplotlib绘图\n### 网络请求库应用\n- Requests发送请求\n- 解析响应内容\n- 处理请求参数\n- 会话保持方法\n### 自动化办公工具\n- 操作Excel文件\n- 处理Word文档\n- 生成PDF报表\n- 邮件自动发送\n- 定时任务设置\n- 流程自动化实现\n## 实战项目与提升\n### 小型项目实践\n- 爬虫项目开发\n- 数据分析项目\n- 自动化脚本\n### 代码规范与优化\n- 遵循PEP8规范\n- 代码重构技巧\n- 性能优化方法\n- 文档编写要求\n### 学习资源拓展\n- 官方文档查阅\n- 开源项目学习\n- 技术社区交流\n- 在线课程选择\n- 书籍推荐阅读\n- 持续学习计划\n&quot;,&quot;messageId&quot;:&quot;389cb891f71f460582b3a297a3dcfa75&quot;,&quot;templateId&quot;:&quot;zmmt8aa1jffpmfxjdyyttbhn6r&quot;,&quot;enableImageGeneration&quot;:true,&quot;isCustom&quot;:false,&quot;collectionIds&quot;:[[&quot;### 环境搭建与配置&quot;,&quot;391f7973-3815-41e0-b3ee-e0603eefe9d5&quot;],[&quot;### 基本语法规则&quot;,&quot;81a77b70-7ba8-43f6-b3c5-2c20c547c19e&quot;]]},&quot;isTemplate&quot;:true,&quot;type&quot;:&quot;cover&quot;,&quot;__version&quot;:2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2" descr="{&quot;isTemplate&quot;:true,&quot;type&quot;:&quot;title&quot;,&quot;canOmit&quot;:false}"/>
          <p:cNvSpPr txBox="true"/>
          <p:nvPr/>
        </p:nvSpPr>
        <p:spPr>
          <a:xfrm rot="0" flipH="false" flipV="false">
            <a:off x="3475712" y="1712865"/>
            <a:ext cx="7855395" cy="961006"/>
          </a:xfrm>
          <a:prstGeom prst="rect"/>
          <a:noFill/>
        </p:spPr>
        <p:txBody>
          <a:bodyPr wrap="square" anchor="ctr">
            <a:noAutofit/>
          </a:bodyPr>
          <a:lstStyle/>
          <a:p>
            <a:pPr marL="0" indent="0" algn="ctr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sz="44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Python学习路线</a:t>
            </a:r>
            <a:endParaRPr/>
          </a:p>
        </p:txBody>
      </p:sp>
      <p:sp>
        <p:nvSpPr>
          <p:cNvPr id="3" name="文本框 14" descr="{&quot;type&quot;:&quot;text&quot;,&quot;isTemplate&quot;:true,&quot;__version&quot;:2}"/>
          <p:cNvSpPr txBox="true"/>
          <p:nvPr/>
        </p:nvSpPr>
        <p:spPr>
          <a:xfrm>
            <a:off x="7715470" y="4889270"/>
            <a:ext cx="1701800" cy="488950"/>
          </a:xfrm>
          <a:prstGeom prst="rect"/>
          <a:noFill/>
        </p:spPr>
        <p:txBody>
          <a:bodyPr wrap="none">
            <a:spAutoFit/>
          </a:bodyPr>
          <a:p>
            <a:pPr defTabSz="901065">
              <a:lnSpc>
                <a:spcPct val="130000"/>
              </a:lnSpc>
              <a:buClrTx/>
              <a:buSzTx/>
              <a:buFontTx/>
            </a:pPr>
            <a:r>
              <a:rPr lang="zh-CN" sz="2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汇报人：</a:t>
            </a:r>
            <a:r>
              <a:rPr lang="en-US" sz="2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XXX</a:t>
            </a:r>
            <a:endParaRPr/>
          </a:p>
        </p:txBody>
      </p:sp>
      <p:sp>
        <p:nvSpPr>
          <p:cNvPr id="4" name="文本框 15" descr="{&quot;type&quot;:&quot;text&quot;,&quot;isTemplate&quot;:true,&quot;__version&quot;:2}"/>
          <p:cNvSpPr txBox="true"/>
          <p:nvPr/>
        </p:nvSpPr>
        <p:spPr>
          <a:xfrm>
            <a:off x="7676432" y="5498948"/>
            <a:ext cx="2665858" cy="453457"/>
          </a:xfrm>
          <a:prstGeom prst="rect"/>
          <a:noFill/>
        </p:spPr>
        <p:txBody>
          <a:bodyPr wrap="none">
            <a:spAutoFit/>
          </a:bodyPr>
          <a:p>
            <a:pPr defTabSz="901065">
              <a:lnSpc>
                <a:spcPct val="130000"/>
              </a:lnSpc>
              <a:buClrTx/>
              <a:buSzTx/>
              <a:buFontTx/>
            </a:pPr>
            <a:r>
              <a:rPr lang="zh-CN" sz="2000" b="true" kern="1200" spc="0" baseline="0">
                <a:solidFill>
                  <a:srgbClr val="36796A"/>
                </a:solidFill>
                <a:latin typeface="微软雅黑"/>
                <a:ea typeface="微软雅黑"/>
              </a:rPr>
              <a:t>日期：</a:t>
            </a:r>
            <a:r>
              <a:rPr lang="en-US" sz="2000" b="true" kern="1200" spc="0" baseline="0">
                <a:solidFill>
                  <a:srgbClr val="36796A"/>
                </a:solidFill>
                <a:latin typeface="微软雅黑"/>
                <a:ea typeface="微软雅黑"/>
              </a:rPr>
              <a:t>20XX.XX. XX </a:t>
            </a:r>
            <a:endParaRPr lang="zh-CN" sz="2000" b="true" kern="1200" spc="0" baseline="0">
              <a:solidFill>
                <a:srgbClr val="36796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10" name="" descr="{&quot;isTemplate&quot;:true,&quot;type&quot;:&quot;catalogue&quot;,&quot;originSlideId&quot;:&quot;tzj62gd5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4" descr="{&quot;type&quot;:&quot;text&quot;,&quot;isTemplate&quot;:true,&quot;__version&quot;:2}"/>
          <p:cNvSpPr txBox="true"/>
          <p:nvPr/>
        </p:nvSpPr>
        <p:spPr>
          <a:xfrm rot="0" flipH="false" flipV="false">
            <a:off x="1805537" y="3305217"/>
            <a:ext cx="1553630" cy="1055289"/>
          </a:xfrm>
          <a:prstGeom prst="rect"/>
          <a:noFill/>
        </p:spPr>
        <p:txBody>
          <a:bodyPr wrap="none" anchor="ctr">
            <a:spAutoFit/>
          </a:bodyPr>
          <a:p>
            <a:pPr algn="ctr" defTabSz="914400">
              <a:lnSpc>
                <a:spcPct val="130000"/>
              </a:lnSpc>
              <a:spcBef>
                <a:spcPct val="1"/>
              </a:spcBef>
              <a:spcAft>
                <a:spcPct val="1"/>
              </a:spcAft>
            </a:pPr>
            <a:r>
              <a:rPr lang="zh-CN" sz="8000" baseline="12000">
                <a:solidFill>
                  <a:srgbClr val="FFFFFF"/>
                </a:solidFill>
                <a:effectLst>
                  <a:innerShdw blurRad="63500" dist="50800" dir="18900000">
                    <a:srgbClr val="000000">
                      <a:alpha val="30000"/>
                    </a:srgbClr>
                  </a:innerShdw>
                </a:effectLst>
                <a:latin typeface="微软雅黑"/>
                <a:ea typeface="微软雅黑"/>
              </a:rPr>
              <a:t>目录</a:t>
            </a:r>
            <a:endParaRPr/>
          </a:p>
        </p:txBody>
      </p:sp>
      <p:grpSp>
        <p:nvGrpSpPr>
          <p:cNvPr id="212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 rot="0" flipH="false" flipV="false">
            <a:off x="3591198" y="1076442"/>
            <a:ext cx="5988492" cy="5159258"/>
            <a:chOff x="4448726" y="1070951"/>
            <a:chExt cx="5988492" cy="5159258"/>
          </a:xfrm>
        </p:grpSpPr>
        <p:grpSp>
          <p:nvGrpSpPr>
            <p:cNvPr id="213" name=""/>
            <p:cNvGrpSpPr/>
            <p:nvPr/>
          </p:nvGrpSpPr>
          <p:grpSpPr>
            <a:xfrm rot="0">
              <a:off x="4448726" y="1628361"/>
              <a:ext cx="5570601" cy="699976"/>
              <a:chOff x="4448726" y="1070951"/>
              <a:chExt cx="5570601" cy="699976"/>
            </a:xfrm>
          </p:grpSpPr>
          <p:grpSp>
            <p:nvGrpSpPr>
              <p:cNvPr id="214" name="组合 4"/>
              <p:cNvGrpSpPr/>
              <p:nvPr/>
            </p:nvGrpSpPr>
            <p:grpSpPr>
              <a:xfrm rot="0" flipH="false" flipV="false">
                <a:off x="4448726" y="1075576"/>
                <a:ext cx="695351" cy="695351"/>
                <a:chOff x="6230422" y="3516323"/>
                <a:chExt cx="3347418" cy="3347418"/>
              </a:xfrm>
              <a:solidFill>
                <a:srgbClr val="36796A">
                  <a:alpha val="100000"/>
                </a:srgbClr>
              </a:solidFill>
              <a:effectLst>
                <a:outerShdw blurRad="381000" dist="165100" dir="8400000" sx="96000" sy="96000" algn="tr">
                  <a:srgbClr val="000000">
                    <a:alpha val="12000"/>
                  </a:srgbClr>
                </a:outerShdw>
              </a:effectLst>
            </p:grpSpPr>
            <p:sp>
              <p:nvSpPr>
                <p:cNvPr id="215" name="椭圆 5"/>
                <p:cNvSpPr/>
                <p:nvPr/>
              </p:nvSpPr>
              <p:spPr>
                <a:xfrm rot="0">
                  <a:off x="6230422" y="3516323"/>
                  <a:ext cx="3347418" cy="3347418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216" name="椭圆 6" descr="{&quot;type&quot;:&quot;serialNumber&quot;,&quot;isTemplate&quot;:true,&quot;__version&quot;:2}"/>
                <p:cNvSpPr/>
                <p:nvPr/>
              </p:nvSpPr>
              <p:spPr>
                <a:xfrm rot="0">
                  <a:off x="6283322" y="3569223"/>
                  <a:ext cx="3241613" cy="3241613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r>
                    <a:rPr lang="en-US" sz="2000" b="false" i="false" u="none" strike="noStrike" kern="0" spc="0" baseline="0">
                      <a:ln>
                        <a:noFill/>
                      </a:ln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01</a:t>
                  </a: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217" name="文本框 16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5373122" y="1070951"/>
                <a:ext cx="4646205" cy="565150"/>
              </a:xfrm>
              <a:prstGeom prst="rect"/>
              <a:noFill/>
              <a:ln/>
            </p:spPr>
            <p:txBody>
              <a:bodyPr>
                <a:spAutoFit/>
              </a:bodyPr>
              <a:p>
                <a:pPr marL="0" indent="0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400" b="true" spc="600">
                    <a:solidFill>
                      <a:srgbClr val="404040"/>
                    </a:solidFill>
                    <a:latin typeface="微软雅黑"/>
                    <a:ea typeface="微软雅黑"/>
                  </a:rPr>
                  <a:t>基础语法入门学习</a:t>
                </a:r>
                <a:endParaRPr/>
              </a:p>
            </p:txBody>
          </p:sp>
        </p:grpSp>
        <p:grpSp>
          <p:nvGrpSpPr>
            <p:cNvPr id="218" name=""/>
            <p:cNvGrpSpPr/>
            <p:nvPr/>
          </p:nvGrpSpPr>
          <p:grpSpPr>
            <a:xfrm rot="0">
              <a:off x="4456590" y="2747807"/>
              <a:ext cx="5717308" cy="695351"/>
              <a:chOff x="4456590" y="2111956"/>
              <a:chExt cx="5717308" cy="695351"/>
            </a:xfrm>
          </p:grpSpPr>
          <p:grpSp>
            <p:nvGrpSpPr>
              <p:cNvPr id="219" name="组合 10"/>
              <p:cNvGrpSpPr/>
              <p:nvPr/>
            </p:nvGrpSpPr>
            <p:grpSpPr>
              <a:xfrm rot="0" flipH="false" flipV="false">
                <a:off x="4456590" y="2111956"/>
                <a:ext cx="695351" cy="695351"/>
                <a:chOff x="6230422" y="3516323"/>
                <a:chExt cx="3347418" cy="3347418"/>
              </a:xfrm>
              <a:solidFill>
                <a:srgbClr val="36796A">
                  <a:alpha val="100000"/>
                </a:srgbClr>
              </a:solidFill>
              <a:effectLst>
                <a:outerShdw blurRad="381000" dist="165100" dir="8400000" sx="96000" sy="96000" algn="tr">
                  <a:srgbClr val="000000">
                    <a:alpha val="12000"/>
                  </a:srgbClr>
                </a:outerShdw>
              </a:effectLst>
            </p:grpSpPr>
            <p:sp>
              <p:nvSpPr>
                <p:cNvPr id="220" name="椭圆 11"/>
                <p:cNvSpPr/>
                <p:nvPr/>
              </p:nvSpPr>
              <p:spPr>
                <a:xfrm rot="0">
                  <a:off x="6230422" y="3516323"/>
                  <a:ext cx="3347418" cy="3347418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221" name="椭圆 12" descr="{&quot;type&quot;:&quot;serialNumber&quot;,&quot;isTemplate&quot;:true,&quot;__version&quot;:2}"/>
                <p:cNvSpPr/>
                <p:nvPr/>
              </p:nvSpPr>
              <p:spPr>
                <a:xfrm rot="0">
                  <a:off x="6283322" y="3569223"/>
                  <a:ext cx="3241613" cy="3241613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r>
                    <a:rPr lang="en-US" sz="2000" b="false" i="false" u="none" strike="noStrike" kern="0" spc="0" baseline="0">
                      <a:ln>
                        <a:noFill/>
                      </a:ln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02</a:t>
                  </a: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222" name="文本框 17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5373122" y="2122944"/>
                <a:ext cx="4800776" cy="565150"/>
              </a:xfrm>
              <a:prstGeom prst="rect"/>
              <a:noFill/>
              <a:ln/>
            </p:spPr>
            <p:txBody>
              <a:bodyPr>
                <a:spAutoFit/>
              </a:bodyPr>
              <a:p>
                <a:pPr marL="0" indent="0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400" b="true" spc="600">
                    <a:solidFill>
                      <a:srgbClr val="404040"/>
                    </a:solidFill>
                    <a:latin typeface="微软雅黑"/>
                    <a:ea typeface="微软雅黑"/>
                  </a:rPr>
                  <a:t>核心进阶知识掌握</a:t>
                </a:r>
                <a:endParaRPr/>
              </a:p>
            </p:txBody>
          </p:sp>
        </p:grpSp>
        <p:grpSp>
          <p:nvGrpSpPr>
            <p:cNvPr id="223" name=""/>
            <p:cNvGrpSpPr/>
            <p:nvPr/>
          </p:nvGrpSpPr>
          <p:grpSpPr>
            <a:xfrm rot="0">
              <a:off x="4470598" y="3862627"/>
              <a:ext cx="5840688" cy="695351"/>
              <a:chOff x="4470598" y="3802393"/>
              <a:chExt cx="5840688" cy="695351"/>
            </a:xfrm>
          </p:grpSpPr>
          <p:grpSp>
            <p:nvGrpSpPr>
              <p:cNvPr id="224" name="组合 7"/>
              <p:cNvGrpSpPr/>
              <p:nvPr/>
            </p:nvGrpSpPr>
            <p:grpSpPr>
              <a:xfrm rot="0">
                <a:off x="4470598" y="3802393"/>
                <a:ext cx="695351" cy="695351"/>
                <a:chOff x="6230422" y="3516323"/>
                <a:chExt cx="3347418" cy="3347418"/>
              </a:xfrm>
              <a:solidFill>
                <a:srgbClr val="36796A">
                  <a:alpha val="100000"/>
                </a:srgbClr>
              </a:solidFill>
              <a:effectLst>
                <a:outerShdw blurRad="381000" dist="165100" dir="8400000" sx="96000" sy="96000" algn="tr">
                  <a:srgbClr val="000000">
                    <a:alpha val="12000"/>
                  </a:srgbClr>
                </a:outerShdw>
              </a:effectLst>
            </p:grpSpPr>
            <p:sp>
              <p:nvSpPr>
                <p:cNvPr id="225" name="椭圆 8"/>
                <p:cNvSpPr/>
                <p:nvPr/>
              </p:nvSpPr>
              <p:spPr>
                <a:xfrm rot="0">
                  <a:off x="6230422" y="3516323"/>
                  <a:ext cx="3347418" cy="3347418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226" name="椭圆 9" descr="{&quot;type&quot;:&quot;serialNumber&quot;,&quot;isTemplate&quot;:true,&quot;__version&quot;:2}"/>
                <p:cNvSpPr/>
                <p:nvPr/>
              </p:nvSpPr>
              <p:spPr>
                <a:xfrm rot="0">
                  <a:off x="6283322" y="3569223"/>
                  <a:ext cx="3241613" cy="3241613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r>
                    <a:rPr lang="en-US" sz="2000" b="false" i="false" u="none" strike="noStrike" kern="0" spc="0" baseline="0">
                      <a:ln>
                        <a:noFill/>
                      </a:ln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03</a:t>
                  </a: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227" name="文本框 18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5416930" y="3813381"/>
                <a:ext cx="4894356" cy="565150"/>
              </a:xfrm>
              <a:prstGeom prst="rect"/>
              <a:noFill/>
              <a:ln/>
            </p:spPr>
            <p:txBody>
              <a:bodyPr>
                <a:spAutoFit/>
              </a:bodyPr>
              <a:p>
                <a:pPr marL="0" indent="0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400" b="true" spc="600">
                    <a:solidFill>
                      <a:srgbClr val="404040"/>
                    </a:solidFill>
                    <a:latin typeface="微软雅黑"/>
                    <a:ea typeface="微软雅黑"/>
                  </a:rPr>
                  <a:t>常用库与工具应用</a:t>
                </a:r>
                <a:endParaRPr/>
              </a:p>
            </p:txBody>
          </p:sp>
        </p:grpSp>
        <p:grpSp>
          <p:nvGrpSpPr>
            <p:cNvPr id="228" name=""/>
            <p:cNvGrpSpPr/>
            <p:nvPr/>
          </p:nvGrpSpPr>
          <p:grpSpPr>
            <a:xfrm rot="0">
              <a:off x="4457265" y="4977448"/>
              <a:ext cx="5979953" cy="695351"/>
              <a:chOff x="4457265" y="4955585"/>
              <a:chExt cx="5979953" cy="695351"/>
            </a:xfrm>
          </p:grpSpPr>
          <p:grpSp>
            <p:nvGrpSpPr>
              <p:cNvPr id="229" name="组合 13"/>
              <p:cNvGrpSpPr/>
              <p:nvPr/>
            </p:nvGrpSpPr>
            <p:grpSpPr>
              <a:xfrm rot="0">
                <a:off x="4457265" y="4955585"/>
                <a:ext cx="695351" cy="695351"/>
                <a:chOff x="6230422" y="3516323"/>
                <a:chExt cx="3347418" cy="3347418"/>
              </a:xfrm>
              <a:solidFill>
                <a:srgbClr val="36796A">
                  <a:alpha val="100000"/>
                </a:srgbClr>
              </a:solidFill>
              <a:effectLst>
                <a:outerShdw blurRad="381000" dist="165100" dir="8400000" sx="96000" sy="96000" algn="tr">
                  <a:srgbClr val="000000">
                    <a:alpha val="12000"/>
                  </a:srgbClr>
                </a:outerShdw>
              </a:effectLst>
            </p:grpSpPr>
            <p:sp>
              <p:nvSpPr>
                <p:cNvPr id="230" name="椭圆 14"/>
                <p:cNvSpPr/>
                <p:nvPr/>
              </p:nvSpPr>
              <p:spPr>
                <a:xfrm rot="0">
                  <a:off x="6230422" y="3516323"/>
                  <a:ext cx="3347418" cy="3347418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  <p:sp>
              <p:nvSpPr>
                <p:cNvPr id="231" name="椭圆 15" descr="{&quot;type&quot;:&quot;serialNumber&quot;,&quot;isTemplate&quot;:true,&quot;__version&quot;:2}"/>
                <p:cNvSpPr/>
                <p:nvPr/>
              </p:nvSpPr>
              <p:spPr>
                <a:xfrm rot="0">
                  <a:off x="6283322" y="3569223"/>
                  <a:ext cx="3241613" cy="3241613"/>
                </a:xfrm>
                <a:prstGeom prst="ellipse"/>
                <a:solidFill>
                  <a:srgbClr val="36796A">
                    <a:alpha val="100000"/>
                  </a:srgbClr>
                </a:solidFill>
                <a:ln w="12700" cap="flat" cmpd="sng">
                  <a:noFill/>
                  <a:prstDash val="solid"/>
                  <a:miter lim="800000"/>
                </a:ln>
              </p:spPr>
              <p:txBody>
                <a:bodyPr anchor="ctr"/>
                <a:p>
                  <a:pPr marL="0" lvl="0" indent="0" algn="ctr" defTabSz="914400">
                    <a:lnSpc>
                      <a:spcPct val="130000"/>
                    </a:lnSpc>
                    <a:spcBef>
                      <a:spcPct val="1"/>
                    </a:spcBef>
                    <a:spcAft>
                      <a:spcPct val="1"/>
                    </a:spcAft>
                    <a:buClrTx/>
                    <a:buSzTx/>
                    <a:buFontTx/>
                    <a:buNone/>
                  </a:pPr>
                  <a:r>
                    <a:rPr lang="en-US" sz="2000" b="false" i="false" u="none" strike="noStrike" kern="0" spc="0" baseline="0">
                      <a:ln>
                        <a:noFill/>
                      </a:ln>
                      <a:solidFill>
                        <a:schemeClr val="bg1"/>
                      </a:solidFill>
                      <a:latin typeface="微软雅黑"/>
                      <a:ea typeface="微软雅黑"/>
                    </a:rPr>
                    <a:t>04</a:t>
                  </a:r>
                  <a:endParaRPr lang="zh-CN" sz="2000" b="false" i="false" u="none" strike="noStrike" kern="0" spc="0" baseline="0">
                    <a:ln>
                      <a:noFill/>
                    </a:ln>
                    <a:solidFill>
                      <a:schemeClr val="bg1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232" name="文本框 19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5373121" y="4969708"/>
                <a:ext cx="5064097" cy="565150"/>
              </a:xfrm>
              <a:prstGeom prst="rect"/>
              <a:noFill/>
              <a:ln/>
            </p:spPr>
            <p:txBody>
              <a:bodyPr>
                <a:spAutoFit/>
              </a:bodyPr>
              <a:p>
                <a:pPr marL="0" indent="0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400" b="true" spc="600">
                    <a:solidFill>
                      <a:srgbClr val="404040"/>
                    </a:solidFill>
                    <a:latin typeface="微软雅黑"/>
                    <a:ea typeface="微软雅黑"/>
                  </a:rPr>
                  <a:t>实战项目与提升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37" name="" descr="{&quot;isTemplate&quot;:true,&quot;type&quot;:&quot;session&quot;,&quot;originSlideId&quot;:&quot;gwll2gdu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4" descr="{&quot;isTemplate&quot;:true,&quot;type&quot;:&quot;serialNumber&quot;}"/>
          <p:cNvSpPr txBox="true"/>
          <p:nvPr/>
        </p:nvSpPr>
        <p:spPr>
          <a:xfrm rot="0" flipH="false" flipV="false">
            <a:off x="3270458" y="3009487"/>
            <a:ext cx="1027845" cy="1055289"/>
          </a:xfrm>
          <a:prstGeom prst="rect"/>
          <a:noFill/>
        </p:spPr>
        <p:txBody>
          <a:bodyPr wrap="none" anchor="ctr">
            <a:spAutoFit/>
          </a:bodyPr>
          <a:p>
            <a:pPr algn="ctr" defTabSz="914400">
              <a:lnSpc>
                <a:spcPct val="130000"/>
              </a:lnSpc>
              <a:buClrTx/>
              <a:buSzTx/>
              <a:buFontTx/>
            </a:pPr>
            <a:r>
              <a:rPr lang="en-US" sz="8000" b="true" kern="1200" spc="0" baseline="12000">
                <a:solidFill>
                  <a:schemeClr val="bg1"/>
                </a:solidFill>
                <a:effectLst>
                  <a:innerShdw blurRad="63500" dist="50800" dir="18900000">
                    <a:srgbClr val="000000">
                      <a:alpha val="30000"/>
                    </a:srgbClr>
                  </a:innerShdw>
                </a:effectLst>
                <a:latin typeface="微软雅黑"/>
                <a:ea typeface="微软雅黑"/>
              </a:rPr>
              <a:t>01</a:t>
            </a:r>
            <a:endParaRPr lang="zh-CN" sz="8000" b="true" kern="1200" spc="0" baseline="12000">
              <a:solidFill>
                <a:schemeClr val="bg1"/>
              </a:solidFill>
              <a:effectLst>
                <a:innerShdw blurRad="63500" dist="50800" dir="18900000">
                  <a:srgbClr val="000000">
                    <a:alpha val="30000"/>
                  </a:srgbClr>
                </a:innerShdw>
              </a:effectLst>
              <a:latin typeface="微软雅黑"/>
              <a:ea typeface="微软雅黑"/>
            </a:endParaRPr>
          </a:p>
        </p:txBody>
      </p:sp>
      <p:sp>
        <p:nvSpPr>
          <p:cNvPr id="239" name="文本框 6" descr="{&quot;isTemplate&quot;:true,&quot;type&quot;:&quot;title&quot;,&quot;canOmit&quot;:false}"/>
          <p:cNvSpPr txBox="true"/>
          <p:nvPr/>
        </p:nvSpPr>
        <p:spPr>
          <a:xfrm rot="0" flipH="false" flipV="false">
            <a:off x="5830254" y="2264722"/>
            <a:ext cx="6178513" cy="2544819"/>
          </a:xfrm>
          <a:prstGeom prst="rect"/>
          <a:noFill/>
        </p:spPr>
        <p:txBody>
          <a:bodyPr wrap="square" anchor="ctr">
            <a:noAutofit/>
          </a:bodyPr>
          <a:lstStyle/>
          <a:p>
            <a:pPr marL="0" indent="0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sz="4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基础语法入门学习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0" name="" descr="{&quot;isTemplate&quot;:true,&quot;type&quot;:&quot;page&quot;,&quot;originSlideId&quot;:&quot;d213599c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组合 46"/>
          <p:cNvGrpSpPr/>
          <p:nvPr/>
        </p:nvGrpSpPr>
        <p:grpSpPr>
          <a:xfrm rot="0" flipH="false" flipV="false">
            <a:off x="7836664" y="1231900"/>
            <a:ext cx="3682236" cy="5003800"/>
            <a:chOff x="7204750" y="1140275"/>
            <a:chExt cx="3682237" cy="5400518"/>
          </a:xfrm>
        </p:grpSpPr>
        <p:sp>
          <p:nvSpPr>
            <p:cNvPr id="242" name=""/>
            <p:cNvSpPr/>
            <p:nvPr/>
          </p:nvSpPr>
          <p:spPr>
            <a:xfrm flipH="true">
              <a:off x="7482307" y="1401885"/>
              <a:ext cx="3404680" cy="5138908"/>
            </a:xfrm>
            <a:prstGeom prst="snip1Rect">
              <a:avLst>
                <a:gd name="adj" fmla="val 19154"/>
              </a:avLst>
            </a:prstGeom>
            <a:gradFill rotWithShape="true">
              <a:gsLst>
                <a:gs pos="1000">
                  <a:schemeClr val="accent1">
                    <a:lumMod val="40000"/>
                    <a:lumOff val="60000"/>
                    <a:alpha val="100000"/>
                  </a:schemeClr>
                </a:gs>
                <a:gs pos="98000">
                  <a:schemeClr val="accent1">
                    <a:alpha val="100000"/>
                  </a:schemeClr>
                </a:gs>
              </a:gsLst>
              <a:lin ang="5400000" scaled="true"/>
            </a:gradFill>
            <a:ln w="12700">
              <a:noFill/>
              <a:prstDash val="solid"/>
              <a:miter lim="800000"/>
            </a:ln>
          </p:spPr>
          <p:txBody>
            <a:bodyPr anchor="ctr"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</a:endParaRPr>
            </a:p>
          </p:txBody>
        </p:sp>
        <p:sp>
          <p:nvSpPr>
            <p:cNvPr id="243" name="" descr="{&quot;isTemplate&quot;:true,&quot;type&quot;:&quot;image&quot;}"/>
            <p:cNvSpPr/>
            <p:nvPr/>
          </p:nvSpPr>
          <p:spPr>
            <a:xfrm flipH="true">
              <a:off x="7204750" y="1140275"/>
              <a:ext cx="3404680" cy="5138908"/>
            </a:xfrm>
            <a:prstGeom prst="snip1Rect">
              <a:avLst>
                <a:gd name="adj" fmla="val 19154"/>
              </a:avLst>
            </a:prstGeom>
            <a:blipFill rotWithShape="false">
              <a:blip r:embed="rId1"/>
              <a:tile tx="0" ty="0" sx="70249" sy="70249" flip="none" algn="tl"/>
            </a:blipFill>
            <a:ln w="12700">
              <a:noFill/>
              <a:prstDash val="solid"/>
              <a:miter lim="800000"/>
            </a:ln>
          </p:spPr>
          <p:txBody>
            <a:bodyPr anchor="ctr"/>
            <a:p>
              <a:pPr algn="ctr">
                <a:lnSpc>
                  <a:spcPct val="130000"/>
                </a:lnSpc>
              </a:pPr>
              <a:endParaRPr lang="zh-CN">
                <a:solidFill>
                  <a:schemeClr val="lt1"/>
                </a:solidFill>
              </a:endParaRPr>
            </a:p>
          </p:txBody>
        </p:sp>
      </p:grpSp>
      <p:grpSp>
        <p:nvGrpSpPr>
          <p:cNvPr id="244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6915914" cy="5003800"/>
            <a:chOff x="666750" y="1231900"/>
            <a:chExt cx="6915914" cy="5003800"/>
          </a:xfrm>
        </p:grpSpPr>
        <p:grpSp>
          <p:nvGrpSpPr>
            <p:cNvPr id="245" name=""/>
            <p:cNvGrpSpPr/>
            <p:nvPr/>
          </p:nvGrpSpPr>
          <p:grpSpPr>
            <a:xfrm>
              <a:off x="666750" y="1231900"/>
              <a:ext cx="6915914" cy="1498600"/>
              <a:chOff x="1228662" y="1231900"/>
              <a:chExt cx="6915914" cy="1498600"/>
            </a:xfrm>
          </p:grpSpPr>
          <p:sp>
            <p:nvSpPr>
              <p:cNvPr id="246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1758950" y="1231900"/>
                <a:ext cx="6385626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>
                        <a:alpha val="100000"/>
                      </a:schemeClr>
                    </a:solidFill>
                  </a:rPr>
                  <a:t>安装Python解释器</a:t>
                </a:r>
                <a:endParaRPr/>
              </a:p>
            </p:txBody>
          </p:sp>
          <p:sp>
            <p:nvSpPr>
              <p:cNvPr id="247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1758950" y="1720850"/>
                <a:ext cx="6385626" cy="10096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>
                        <a:alpha val="100000"/>
                      </a:schemeClr>
                    </a:solidFill>
                  </a:rPr>
                  <a:t>前往Python官网下载对应系统版本的安装包，按向导提示完成安装，注意勾选添加环境变量选项，确保后续命令行可直接调用。</a:t>
                </a:r>
                <a:endParaRPr/>
              </a:p>
            </p:txBody>
          </p:sp>
          <p:sp>
            <p:nvSpPr>
              <p:cNvPr id="248" name="" descr="{&quot;isTemplate&quot;:true,&quot;type&quot;:&quot;serialNumber&quot;}"/>
              <p:cNvSpPr/>
              <p:nvPr/>
            </p:nvSpPr>
            <p:spPr>
              <a:xfrm rot="0" flipH="false" flipV="false">
                <a:off x="1228662" y="1231900"/>
                <a:ext cx="492187" cy="488949"/>
              </a:xfrm>
              <a:prstGeom prst="snip1Rect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p>
                <a:pPr algn="ctr"/>
                <a:r>
                  <a:rPr lang="en-US" b="true">
                    <a:solidFill>
                      <a:schemeClr val="bg1">
                        <a:alpha val="100000"/>
                      </a:schemeClr>
                    </a:solidFill>
                  </a:rPr>
                  <a:t>01</a:t>
                </a:r>
                <a:endParaRPr/>
              </a:p>
            </p:txBody>
          </p:sp>
        </p:grpSp>
        <p:grpSp>
          <p:nvGrpSpPr>
            <p:cNvPr id="249" name=""/>
            <p:cNvGrpSpPr/>
            <p:nvPr/>
          </p:nvGrpSpPr>
          <p:grpSpPr>
            <a:xfrm>
              <a:off x="666750" y="2984500"/>
              <a:ext cx="6915914" cy="1498600"/>
              <a:chOff x="1493806" y="3860800"/>
              <a:chExt cx="6915914" cy="1498600"/>
            </a:xfrm>
          </p:grpSpPr>
          <p:sp>
            <p:nvSpPr>
              <p:cNvPr id="250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2024094" y="3860800"/>
                <a:ext cx="6385626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>
                        <a:alpha val="100000"/>
                      </a:schemeClr>
                    </a:solidFill>
                  </a:rPr>
                  <a:t>配置开发环境</a:t>
                </a:r>
                <a:endParaRPr/>
              </a:p>
            </p:txBody>
          </p:sp>
          <p:sp>
            <p:nvSpPr>
              <p:cNvPr id="251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2024094" y="4349750"/>
                <a:ext cx="6385626" cy="10096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>
                        <a:alpha val="100000"/>
                      </a:schemeClr>
                    </a:solidFill>
                  </a:rPr>
                  <a:t>下载安装VS Code或PyCharm等工具，完成基础配置并安装Python相关插件，搭建舒适高效的代码编写调试环境。</a:t>
                </a:r>
                <a:endParaRPr/>
              </a:p>
            </p:txBody>
          </p:sp>
          <p:sp>
            <p:nvSpPr>
              <p:cNvPr id="252" name="" descr="{&quot;isTemplate&quot;:true,&quot;type&quot;:&quot;serialNumber&quot;}"/>
              <p:cNvSpPr/>
              <p:nvPr/>
            </p:nvSpPr>
            <p:spPr>
              <a:xfrm rot="0" flipH="false" flipV="false">
                <a:off x="1493806" y="3860800"/>
                <a:ext cx="492187" cy="488949"/>
              </a:xfrm>
              <a:prstGeom prst="snip1Rect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p>
                <a:pPr algn="ctr"/>
                <a:r>
                  <a:rPr lang="en-US" b="true">
                    <a:solidFill>
                      <a:schemeClr val="bg1">
                        <a:alpha val="100000"/>
                      </a:schemeClr>
                    </a:solidFill>
                  </a:rPr>
                  <a:t>02</a:t>
                </a:r>
                <a:endParaRPr/>
              </a:p>
            </p:txBody>
          </p:sp>
        </p:grpSp>
        <p:grpSp>
          <p:nvGrpSpPr>
            <p:cNvPr id="253" name=""/>
            <p:cNvGrpSpPr/>
            <p:nvPr/>
          </p:nvGrpSpPr>
          <p:grpSpPr>
            <a:xfrm>
              <a:off x="666750" y="4737100"/>
              <a:ext cx="6915914" cy="1498600"/>
              <a:chOff x="1228662" y="1231900"/>
              <a:chExt cx="6915914" cy="1498600"/>
            </a:xfrm>
          </p:grpSpPr>
          <p:sp>
            <p:nvSpPr>
              <p:cNvPr id="254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1758950" y="1231900"/>
                <a:ext cx="6385626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>
                        <a:alpha val="100000"/>
                      </a:schemeClr>
                    </a:solidFill>
                  </a:rPr>
                  <a:t>验证环境可用性</a:t>
                </a:r>
                <a:endParaRPr/>
              </a:p>
            </p:txBody>
          </p:sp>
          <p:sp>
            <p:nvSpPr>
              <p:cNvPr id="255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1758950" y="1720850"/>
                <a:ext cx="6385626" cy="10096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>
                        <a:alpha val="100000"/>
                      </a:schemeClr>
                    </a:solidFill>
                  </a:rPr>
                  <a:t>打开命令行输入python --version查看版本号，运行简单print语句测试，确认解释器与开发环境均正常工作。</a:t>
                </a:r>
                <a:endParaRPr/>
              </a:p>
            </p:txBody>
          </p:sp>
          <p:sp>
            <p:nvSpPr>
              <p:cNvPr id="256" name="" descr="{&quot;isTemplate&quot;:true,&quot;type&quot;:&quot;serialNumber&quot;}"/>
              <p:cNvSpPr/>
              <p:nvPr/>
            </p:nvSpPr>
            <p:spPr>
              <a:xfrm rot="0" flipH="false" flipV="false">
                <a:off x="1228662" y="1231900"/>
                <a:ext cx="492187" cy="488949"/>
              </a:xfrm>
              <a:prstGeom prst="snip1Rect">
                <a:avLst/>
              </a:prstGeom>
              <a:solidFill>
                <a:schemeClr val="accent1">
                  <a:lumMod val="60000"/>
                  <a:lumOff val="40000"/>
                  <a:alpha val="100000"/>
                </a:schemeClr>
              </a:solidFill>
              <a:ln w="0">
                <a:noFill/>
              </a:ln>
            </p:spPr>
            <p:txBody>
              <a:bodyPr anchor="ctr"/>
              <a:p>
                <a:pPr algn="ctr"/>
                <a:r>
                  <a:rPr lang="en-US" b="true">
                    <a:solidFill>
                      <a:schemeClr val="bg1">
                        <a:alpha val="100000"/>
                      </a:schemeClr>
                    </a:solidFill>
                  </a:rPr>
                  <a:t>03</a:t>
                </a:r>
                <a:endParaRPr/>
              </a:p>
            </p:txBody>
          </p:sp>
        </p:grpSp>
      </p:grpSp>
      <p:sp>
        <p:nvSpPr>
          <p:cNvPr id="257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环境搭建与配置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58" name="" descr="{&quot;isTemplate&quot;:true,&quot;type&quot;:&quot;page&quot;,&quot;originSlideId&quot;:&quot;4b25ca9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956265"/>
            <a:ext cx="10852150" cy="3464673"/>
            <a:chOff x="666750" y="1141503"/>
            <a:chExt cx="10852150" cy="3464673"/>
          </a:xfrm>
        </p:grpSpPr>
        <p:grpSp>
          <p:nvGrpSpPr>
            <p:cNvPr id="260" name=""/>
            <p:cNvGrpSpPr/>
            <p:nvPr/>
          </p:nvGrpSpPr>
          <p:grpSpPr>
            <a:xfrm>
              <a:off x="666750" y="1141503"/>
              <a:ext cx="4523839" cy="1689100"/>
              <a:chOff x="666750" y="1141503"/>
              <a:chExt cx="4523839" cy="1689100"/>
            </a:xfrm>
          </p:grpSpPr>
          <p:sp>
            <p:nvSpPr>
              <p:cNvPr id="261" name="矩形: 圆角 33"/>
              <p:cNvSpPr/>
              <p:nvPr/>
            </p:nvSpPr>
            <p:spPr>
              <a:xfrm rot="18900000" flipH="false" flipV="false">
                <a:off x="4499566" y="1254288"/>
                <a:ext cx="691023" cy="691023"/>
              </a:xfrm>
              <a:prstGeom prst="roundRect">
                <a:avLst/>
              </a:prstGeom>
              <a:solidFill>
                <a:schemeClr val="accent2">
                  <a:alpha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1353">
                  <a:solidFill>
                    <a:srgbClr val="75592A">
                      <a:alpha val="100000"/>
                    </a:srgbClr>
                  </a:solidFill>
                  <a:sym typeface="思源宋体 CN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 rot="0" flipH="false" flipV="false">
                <a:off x="4714717" y="1464467"/>
                <a:ext cx="276705" cy="2746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false">
                    <a:moveTo>
                      <a:pt x="4342" y="9406"/>
                    </a:moveTo>
                    <a:cubicBezTo>
                      <a:pt x="6145" y="12863"/>
                      <a:pt x="8868" y="15614"/>
                      <a:pt x="12290" y="17213"/>
                    </a:cubicBezTo>
                    <a:lnTo>
                      <a:pt x="14793" y="14685"/>
                    </a:lnTo>
                    <a:cubicBezTo>
                      <a:pt x="15234" y="14239"/>
                      <a:pt x="15712" y="14239"/>
                      <a:pt x="16154" y="14462"/>
                    </a:cubicBezTo>
                    <a:cubicBezTo>
                      <a:pt x="17295" y="14945"/>
                      <a:pt x="18877" y="15168"/>
                      <a:pt x="20238" y="15168"/>
                    </a:cubicBezTo>
                    <a:cubicBezTo>
                      <a:pt x="21158" y="15168"/>
                      <a:pt x="21600" y="15614"/>
                      <a:pt x="21600" y="16321"/>
                    </a:cubicBezTo>
                    <a:lnTo>
                      <a:pt x="21600" y="20448"/>
                    </a:lnTo>
                    <a:cubicBezTo>
                      <a:pt x="21600" y="21117"/>
                      <a:pt x="21158" y="21600"/>
                      <a:pt x="20238" y="21600"/>
                    </a:cubicBezTo>
                    <a:cubicBezTo>
                      <a:pt x="9089" y="21600"/>
                      <a:pt x="0" y="12640"/>
                      <a:pt x="0" y="1152"/>
                    </a:cubicBezTo>
                    <a:cubicBezTo>
                      <a:pt x="0" y="446"/>
                      <a:pt x="699" y="0"/>
                      <a:pt x="1361" y="0"/>
                    </a:cubicBezTo>
                    <a:lnTo>
                      <a:pt x="5483" y="0"/>
                    </a:lnTo>
                    <a:cubicBezTo>
                      <a:pt x="6145" y="0"/>
                      <a:pt x="6587" y="446"/>
                      <a:pt x="6587" y="1152"/>
                    </a:cubicBezTo>
                    <a:cubicBezTo>
                      <a:pt x="6587" y="2751"/>
                      <a:pt x="6844" y="4127"/>
                      <a:pt x="7286" y="5502"/>
                    </a:cubicBezTo>
                    <a:cubicBezTo>
                      <a:pt x="7507" y="5948"/>
                      <a:pt x="7286" y="6432"/>
                      <a:pt x="7065" y="6655"/>
                    </a:cubicBezTo>
                    <a:lnTo>
                      <a:pt x="4342" y="9406"/>
                    </a:lnTo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>
                  <a:defRPr sz="1800" baseline="0">
                    <a:solidFill>
                      <a:srgbClr val="000000">
                        <a:alpha val="100000"/>
                      </a:srgbClr>
                    </a:solidFill>
                  </a:defRPr>
                </a:pPr>
                <a:endParaRPr sz="2400">
                  <a:solidFill>
                    <a:schemeClr val="tx2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263" name="文本框 65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1630453"/>
                <a:ext cx="3240024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通过赋值语句完成变量定义，等号右侧值赋予左侧名称，无需提前声明类型，随用随定义，灵活适配不同数据内容的存储需求。</a:t>
                </a:r>
                <a:endParaRPr/>
              </a:p>
            </p:txBody>
          </p:sp>
          <p:sp>
            <p:nvSpPr>
              <p:cNvPr id="264" name="TextBox 11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66750" y="1141503"/>
                <a:ext cx="324485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变量定义与赋值</a:t>
                </a:r>
                <a:endParaRPr/>
              </a:p>
            </p:txBody>
          </p:sp>
        </p:grpSp>
        <p:grpSp>
          <p:nvGrpSpPr>
            <p:cNvPr id="265" name=""/>
            <p:cNvGrpSpPr/>
            <p:nvPr/>
          </p:nvGrpSpPr>
          <p:grpSpPr>
            <a:xfrm>
              <a:off x="6945996" y="1141503"/>
              <a:ext cx="4572904" cy="1689100"/>
              <a:chOff x="6945996" y="1141503"/>
              <a:chExt cx="4572904" cy="1689100"/>
            </a:xfrm>
          </p:grpSpPr>
          <p:sp>
            <p:nvSpPr>
              <p:cNvPr id="266" name="矩形: 圆角 36"/>
              <p:cNvSpPr/>
              <p:nvPr/>
            </p:nvSpPr>
            <p:spPr>
              <a:xfrm rot="18900000" flipH="false" flipV="false">
                <a:off x="6945996" y="1216188"/>
                <a:ext cx="691023" cy="691023"/>
              </a:xfrm>
              <a:prstGeom prst="round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1353">
                  <a:solidFill>
                    <a:srgbClr val="75592A">
                      <a:alpha val="100000"/>
                    </a:srgbClr>
                  </a:solidFill>
                  <a:sym typeface="思源宋体 CN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 rot="0" flipH="false" flipV="false">
                <a:off x="7144640" y="1466440"/>
                <a:ext cx="303692" cy="2416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false">
                    <a:moveTo>
                      <a:pt x="19537" y="0"/>
                    </a:moveTo>
                    <a:lnTo>
                      <a:pt x="2263" y="0"/>
                    </a:lnTo>
                    <a:cubicBezTo>
                      <a:pt x="1032" y="0"/>
                      <a:pt x="0" y="1053"/>
                      <a:pt x="0" y="2611"/>
                    </a:cubicBezTo>
                    <a:lnTo>
                      <a:pt x="0" y="18989"/>
                    </a:lnTo>
                    <a:cubicBezTo>
                      <a:pt x="0" y="20547"/>
                      <a:pt x="1032" y="21600"/>
                      <a:pt x="2263" y="21600"/>
                    </a:cubicBezTo>
                    <a:lnTo>
                      <a:pt x="19537" y="21600"/>
                    </a:lnTo>
                    <a:cubicBezTo>
                      <a:pt x="20568" y="21600"/>
                      <a:pt x="21600" y="20547"/>
                      <a:pt x="21600" y="18989"/>
                    </a:cubicBezTo>
                    <a:lnTo>
                      <a:pt x="21600" y="2611"/>
                    </a:lnTo>
                    <a:cubicBezTo>
                      <a:pt x="21600" y="1053"/>
                      <a:pt x="20568" y="0"/>
                      <a:pt x="19537" y="0"/>
                    </a:cubicBezTo>
                    <a:close/>
                    <a:moveTo>
                      <a:pt x="19537" y="5221"/>
                    </a:moveTo>
                    <a:lnTo>
                      <a:pt x="10916" y="12253"/>
                    </a:lnTo>
                    <a:lnTo>
                      <a:pt x="2263" y="5221"/>
                    </a:lnTo>
                    <a:lnTo>
                      <a:pt x="2263" y="2611"/>
                    </a:lnTo>
                    <a:lnTo>
                      <a:pt x="10916" y="9389"/>
                    </a:lnTo>
                    <a:lnTo>
                      <a:pt x="19537" y="2611"/>
                    </a:lnTo>
                    <a:lnTo>
                      <a:pt x="19537" y="5221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>
                  <a:defRPr sz="1800" baseline="0">
                    <a:solidFill>
                      <a:srgbClr val="000000">
                        <a:alpha val="100000"/>
                      </a:srgbClr>
                    </a:solidFill>
                  </a:defRPr>
                </a:pPr>
                <a:endParaRPr sz="2400">
                  <a:solidFill>
                    <a:schemeClr val="tx2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268" name="文本框 5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74050" y="1630453"/>
                <a:ext cx="3240024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400" b="false">
                    <a:solidFill>
                      <a:schemeClr val="tx1"/>
                    </a:solidFill>
                  </a:rPr>
                  <a:t>包含整数、浮点数、字符串、布尔值等类型，不同类型有独立的数据特征与适用场景，是后续数据运算处理的基础。</a:t>
                </a:r>
                <a:endParaRPr/>
              </a:p>
            </p:txBody>
          </p:sp>
          <p:sp>
            <p:nvSpPr>
              <p:cNvPr id="269" name="TextBox 11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274050" y="1141503"/>
                <a:ext cx="3244850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基础数据类型</a:t>
                </a:r>
                <a:endParaRPr/>
              </a:p>
            </p:txBody>
          </p:sp>
        </p:grpSp>
        <p:grpSp>
          <p:nvGrpSpPr>
            <p:cNvPr id="270" name=""/>
            <p:cNvGrpSpPr/>
            <p:nvPr/>
          </p:nvGrpSpPr>
          <p:grpSpPr>
            <a:xfrm>
              <a:off x="666750" y="2917076"/>
              <a:ext cx="4523839" cy="1689100"/>
              <a:chOff x="666750" y="2917076"/>
              <a:chExt cx="4523839" cy="1689100"/>
            </a:xfrm>
          </p:grpSpPr>
          <p:sp>
            <p:nvSpPr>
              <p:cNvPr id="271" name="矩形: 圆角 34"/>
              <p:cNvSpPr/>
              <p:nvPr/>
            </p:nvSpPr>
            <p:spPr>
              <a:xfrm rot="18900000" flipH="false" flipV="false">
                <a:off x="4499566" y="3136891"/>
                <a:ext cx="691023" cy="691023"/>
              </a:xfrm>
              <a:prstGeom prst="roundRect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1353">
                  <a:solidFill>
                    <a:srgbClr val="75592A">
                      <a:alpha val="100000"/>
                    </a:srgbClr>
                  </a:solidFill>
                  <a:sym typeface="思源宋体 CN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 rot="0" flipH="false" flipV="false">
                <a:off x="4689869" y="3374537"/>
                <a:ext cx="301553" cy="288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false">
                    <a:moveTo>
                      <a:pt x="8262" y="4327"/>
                    </a:moveTo>
                    <a:cubicBezTo>
                      <a:pt x="8262" y="1850"/>
                      <a:pt x="6401" y="0"/>
                      <a:pt x="4131" y="0"/>
                    </a:cubicBezTo>
                    <a:cubicBezTo>
                      <a:pt x="1860" y="0"/>
                      <a:pt x="0" y="1949"/>
                      <a:pt x="0" y="4327"/>
                    </a:cubicBezTo>
                    <a:cubicBezTo>
                      <a:pt x="0" y="6672"/>
                      <a:pt x="1766" y="8620"/>
                      <a:pt x="4131" y="8620"/>
                    </a:cubicBezTo>
                    <a:cubicBezTo>
                      <a:pt x="4730" y="8620"/>
                      <a:pt x="5298" y="8422"/>
                      <a:pt x="5707" y="8224"/>
                    </a:cubicBezTo>
                    <a:lnTo>
                      <a:pt x="8262" y="10701"/>
                    </a:lnTo>
                    <a:lnTo>
                      <a:pt x="5707" y="13376"/>
                    </a:lnTo>
                    <a:cubicBezTo>
                      <a:pt x="5298" y="12947"/>
                      <a:pt x="4730" y="12947"/>
                      <a:pt x="4131" y="12947"/>
                    </a:cubicBezTo>
                    <a:cubicBezTo>
                      <a:pt x="1766" y="12947"/>
                      <a:pt x="0" y="14895"/>
                      <a:pt x="0" y="17273"/>
                    </a:cubicBezTo>
                    <a:cubicBezTo>
                      <a:pt x="0" y="19618"/>
                      <a:pt x="1860" y="21600"/>
                      <a:pt x="4131" y="21600"/>
                    </a:cubicBezTo>
                    <a:cubicBezTo>
                      <a:pt x="6401" y="21600"/>
                      <a:pt x="8262" y="19519"/>
                      <a:pt x="8262" y="17273"/>
                    </a:cubicBezTo>
                    <a:cubicBezTo>
                      <a:pt x="8262" y="16646"/>
                      <a:pt x="8072" y="16018"/>
                      <a:pt x="7852" y="15424"/>
                    </a:cubicBezTo>
                    <a:lnTo>
                      <a:pt x="10217" y="12947"/>
                    </a:lnTo>
                    <a:lnTo>
                      <a:pt x="17469" y="20345"/>
                    </a:lnTo>
                    <a:lnTo>
                      <a:pt x="21600" y="20345"/>
                    </a:lnTo>
                    <a:lnTo>
                      <a:pt x="7852" y="5945"/>
                    </a:lnTo>
                    <a:cubicBezTo>
                      <a:pt x="8072" y="5549"/>
                      <a:pt x="8262" y="4921"/>
                      <a:pt x="8262" y="4327"/>
                    </a:cubicBezTo>
                    <a:close/>
                    <a:moveTo>
                      <a:pt x="4131" y="6374"/>
                    </a:moveTo>
                    <a:cubicBezTo>
                      <a:pt x="2964" y="6374"/>
                      <a:pt x="2176" y="5549"/>
                      <a:pt x="2176" y="4327"/>
                    </a:cubicBezTo>
                    <a:cubicBezTo>
                      <a:pt x="2176" y="3072"/>
                      <a:pt x="2964" y="2048"/>
                      <a:pt x="4131" y="2048"/>
                    </a:cubicBezTo>
                    <a:cubicBezTo>
                      <a:pt x="5298" y="2048"/>
                      <a:pt x="6086" y="3072"/>
                      <a:pt x="6086" y="4327"/>
                    </a:cubicBezTo>
                    <a:cubicBezTo>
                      <a:pt x="6086" y="5549"/>
                      <a:pt x="5298" y="6374"/>
                      <a:pt x="4131" y="6374"/>
                    </a:cubicBezTo>
                    <a:close/>
                    <a:moveTo>
                      <a:pt x="4131" y="19321"/>
                    </a:moveTo>
                    <a:cubicBezTo>
                      <a:pt x="2964" y="19321"/>
                      <a:pt x="2176" y="18396"/>
                      <a:pt x="2176" y="17273"/>
                    </a:cubicBezTo>
                    <a:cubicBezTo>
                      <a:pt x="2176" y="16150"/>
                      <a:pt x="2964" y="14994"/>
                      <a:pt x="4131" y="14994"/>
                    </a:cubicBezTo>
                    <a:cubicBezTo>
                      <a:pt x="5298" y="14994"/>
                      <a:pt x="6086" y="16150"/>
                      <a:pt x="6086" y="17273"/>
                    </a:cubicBezTo>
                    <a:cubicBezTo>
                      <a:pt x="6086" y="18396"/>
                      <a:pt x="5298" y="19321"/>
                      <a:pt x="4131" y="19321"/>
                    </a:cubicBezTo>
                    <a:close/>
                    <a:moveTo>
                      <a:pt x="10217" y="10272"/>
                    </a:moveTo>
                    <a:cubicBezTo>
                      <a:pt x="10627" y="10272"/>
                      <a:pt x="10816" y="10371"/>
                      <a:pt x="10816" y="10701"/>
                    </a:cubicBezTo>
                    <a:cubicBezTo>
                      <a:pt x="10816" y="10998"/>
                      <a:pt x="10500" y="11295"/>
                      <a:pt x="10217" y="11295"/>
                    </a:cubicBezTo>
                    <a:cubicBezTo>
                      <a:pt x="9933" y="11295"/>
                      <a:pt x="9838" y="10998"/>
                      <a:pt x="9838" y="10701"/>
                    </a:cubicBezTo>
                    <a:cubicBezTo>
                      <a:pt x="9838" y="10371"/>
                      <a:pt x="10027" y="10272"/>
                      <a:pt x="10217" y="10272"/>
                    </a:cubicBezTo>
                    <a:close/>
                    <a:moveTo>
                      <a:pt x="21600" y="1024"/>
                    </a:moveTo>
                    <a:lnTo>
                      <a:pt x="17469" y="1024"/>
                    </a:lnTo>
                    <a:lnTo>
                      <a:pt x="11383" y="7596"/>
                    </a:lnTo>
                    <a:lnTo>
                      <a:pt x="13370" y="9644"/>
                    </a:lnTo>
                    <a:lnTo>
                      <a:pt x="21600" y="1024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>
                  <a:defRPr sz="1800" baseline="0">
                    <a:solidFill>
                      <a:srgbClr val="000000">
                        <a:alpha val="100000"/>
                      </a:srgbClr>
                    </a:solidFill>
                  </a:defRPr>
                </a:pPr>
                <a:endParaRPr sz="2400">
                  <a:solidFill>
                    <a:schemeClr val="tx2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273" name="文本框 1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3406026"/>
                <a:ext cx="3240024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400" b="false">
                    <a:solidFill>
                      <a:schemeClr val="tx1"/>
                    </a:solidFill>
                  </a:rPr>
                  <a:t>涵盖算术、比较、逻辑、赋值等运算符，可实现数据计算、条件判断、数值更新等常见操作，支撑程序逻辑运转。</a:t>
                </a:r>
                <a:endParaRPr/>
              </a:p>
            </p:txBody>
          </p:sp>
          <p:sp>
            <p:nvSpPr>
              <p:cNvPr id="274" name="TextBox 11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66750" y="2917076"/>
                <a:ext cx="324485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运算符使用</a:t>
                </a:r>
                <a:endParaRPr/>
              </a:p>
            </p:txBody>
          </p:sp>
        </p:grpSp>
        <p:grpSp>
          <p:nvGrpSpPr>
            <p:cNvPr id="275" name=""/>
            <p:cNvGrpSpPr/>
            <p:nvPr/>
          </p:nvGrpSpPr>
          <p:grpSpPr>
            <a:xfrm>
              <a:off x="6921231" y="2917076"/>
              <a:ext cx="4597669" cy="1689100"/>
              <a:chOff x="6921231" y="2917076"/>
              <a:chExt cx="4597669" cy="1689100"/>
            </a:xfrm>
          </p:grpSpPr>
          <p:sp>
            <p:nvSpPr>
              <p:cNvPr id="276" name="矩形: 圆角 37"/>
              <p:cNvSpPr/>
              <p:nvPr/>
            </p:nvSpPr>
            <p:spPr>
              <a:xfrm rot="18900000" flipH="false" flipV="false">
                <a:off x="6921231" y="3148957"/>
                <a:ext cx="691023" cy="691023"/>
              </a:xfrm>
              <a:prstGeom prst="roundRect">
                <a:avLst/>
              </a:prstGeom>
              <a:solidFill>
                <a:schemeClr val="accent2">
                  <a:alpha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1353">
                  <a:solidFill>
                    <a:srgbClr val="75592A">
                      <a:alpha val="100000"/>
                    </a:srgbClr>
                  </a:solidFill>
                  <a:sym typeface="思源宋体 CN"/>
                </a:endParaRPr>
              </a:p>
            </p:txBody>
          </p:sp>
          <p:sp>
            <p:nvSpPr>
              <p:cNvPr id="277" name=""/>
              <p:cNvSpPr/>
              <p:nvPr/>
            </p:nvSpPr>
            <p:spPr>
              <a:xfrm rot="0" flipH="false" flipV="false">
                <a:off x="7180984" y="3351980"/>
                <a:ext cx="209308" cy="288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false">
                    <a:moveTo>
                      <a:pt x="10911" y="13627"/>
                    </a:moveTo>
                    <a:cubicBezTo>
                      <a:pt x="13584" y="13627"/>
                      <a:pt x="15365" y="12081"/>
                      <a:pt x="15365" y="10169"/>
                    </a:cubicBezTo>
                    <a:lnTo>
                      <a:pt x="15365" y="3458"/>
                    </a:lnTo>
                    <a:cubicBezTo>
                      <a:pt x="15365" y="1505"/>
                      <a:pt x="13584" y="0"/>
                      <a:pt x="10911" y="0"/>
                    </a:cubicBezTo>
                    <a:cubicBezTo>
                      <a:pt x="8295" y="0"/>
                      <a:pt x="6179" y="1505"/>
                      <a:pt x="6179" y="3458"/>
                    </a:cubicBezTo>
                    <a:lnTo>
                      <a:pt x="6179" y="10169"/>
                    </a:lnTo>
                    <a:cubicBezTo>
                      <a:pt x="6179" y="12081"/>
                      <a:pt x="8295" y="13627"/>
                      <a:pt x="10911" y="13627"/>
                    </a:cubicBezTo>
                    <a:close/>
                    <a:moveTo>
                      <a:pt x="18928" y="10169"/>
                    </a:moveTo>
                    <a:cubicBezTo>
                      <a:pt x="18928" y="13627"/>
                      <a:pt x="15198" y="15986"/>
                      <a:pt x="10911" y="15986"/>
                    </a:cubicBezTo>
                    <a:cubicBezTo>
                      <a:pt x="6625" y="15986"/>
                      <a:pt x="2672" y="13627"/>
                      <a:pt x="2672" y="10169"/>
                    </a:cubicBezTo>
                    <a:lnTo>
                      <a:pt x="0" y="10169"/>
                    </a:lnTo>
                    <a:cubicBezTo>
                      <a:pt x="0" y="14034"/>
                      <a:pt x="4120" y="17288"/>
                      <a:pt x="9130" y="17695"/>
                    </a:cubicBezTo>
                    <a:lnTo>
                      <a:pt x="9130" y="21600"/>
                    </a:lnTo>
                    <a:lnTo>
                      <a:pt x="12414" y="21600"/>
                    </a:lnTo>
                    <a:lnTo>
                      <a:pt x="12414" y="17695"/>
                    </a:lnTo>
                    <a:cubicBezTo>
                      <a:pt x="17425" y="17288"/>
                      <a:pt x="21600" y="14034"/>
                      <a:pt x="21600" y="10169"/>
                    </a:cubicBezTo>
                    <a:lnTo>
                      <a:pt x="18928" y="10169"/>
                    </a:lnTo>
                    <a:close/>
                  </a:path>
                </a:pathLst>
              </a:custGeom>
              <a:solidFill>
                <a:schemeClr val="bg1">
                  <a:alpha val="100000"/>
                </a:schemeClr>
              </a:solidFill>
              <a:ln w="12700">
                <a:miter lim="400000"/>
              </a:ln>
            </p:spPr>
            <p:txBody>
              <a:bodyPr lIns="45719" rIns="45719" anchor="ctr"/>
              <a:lstStyle/>
              <a:p>
                <a:pPr>
                  <a:defRPr sz="1800" baseline="0">
                    <a:solidFill>
                      <a:srgbClr val="000000">
                        <a:alpha val="100000"/>
                      </a:srgbClr>
                    </a:solidFill>
                  </a:defRPr>
                </a:pPr>
                <a:endParaRPr sz="2400">
                  <a:solidFill>
                    <a:schemeClr val="tx2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278" name="文本框 7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74050" y="3406026"/>
                <a:ext cx="3240024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1400" b="false">
                    <a:solidFill>
                      <a:schemeClr val="tx1"/>
                    </a:solidFill>
                  </a:rPr>
                  <a:t>分为单行与多行注释两种形式，用于标注代码逻辑与功能说明，解释器会自动忽略注释内容，不影响程序运行。</a:t>
                </a:r>
                <a:endParaRPr/>
              </a:p>
            </p:txBody>
          </p:sp>
          <p:sp>
            <p:nvSpPr>
              <p:cNvPr id="279" name="TextBox 11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274050" y="2917076"/>
                <a:ext cx="3244850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marL="0" indent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注释编写规范</a:t>
                </a:r>
                <a:endParaRPr/>
              </a:p>
            </p:txBody>
          </p:sp>
        </p:grpSp>
      </p:grpSp>
      <p:sp>
        <p:nvSpPr>
          <p:cNvPr id="280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基本语法规则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81" name="" descr="{&quot;isTemplate&quot;:true,&quot;type&quot;:&quot;page&quot;,&quot;originSlideId&quot;:&quot;6c53de5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10852150" cy="5003800"/>
            <a:chOff x="666750" y="1231900"/>
            <a:chExt cx="10852150" cy="5003800"/>
          </a:xfrm>
        </p:grpSpPr>
        <p:grpSp>
          <p:nvGrpSpPr>
            <p:cNvPr id="283" name=""/>
            <p:cNvGrpSpPr/>
            <p:nvPr/>
          </p:nvGrpSpPr>
          <p:grpSpPr>
            <a:xfrm>
              <a:off x="666750" y="1231900"/>
              <a:ext cx="3598333" cy="1608666"/>
              <a:chOff x="666750" y="1231900"/>
              <a:chExt cx="3598333" cy="1608666"/>
            </a:xfrm>
          </p:grpSpPr>
          <p:sp>
            <p:nvSpPr>
              <p:cNvPr id="284" name="" descr="{&quot;isTemplate&quot;:true,&quot;type&quot;:&quot;serialNumber&quot;}"/>
              <p:cNvSpPr/>
              <p:nvPr/>
            </p:nvSpPr>
            <p:spPr>
              <a:xfrm rot="0" flipH="false" flipV="false">
                <a:off x="3833083" y="1471448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01</a:t>
                </a:r>
                <a:endParaRPr/>
              </a:p>
            </p:txBody>
          </p:sp>
          <p:sp>
            <p:nvSpPr>
              <p:cNvPr id="285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1231900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条件判断语句</a:t>
                </a:r>
                <a:endParaRPr/>
              </a:p>
            </p:txBody>
          </p:sp>
          <p:sp>
            <p:nvSpPr>
              <p:cNvPr id="286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1720850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使用if、elif、else关键字构建分支逻辑，根据表达式结果执行对应代码块，是程序实现智能化决策的基础。</a:t>
                </a:r>
                <a:endParaRPr/>
              </a:p>
            </p:txBody>
          </p:sp>
        </p:grpSp>
        <p:grpSp>
          <p:nvGrpSpPr>
            <p:cNvPr id="287" name=""/>
            <p:cNvGrpSpPr/>
            <p:nvPr/>
          </p:nvGrpSpPr>
          <p:grpSpPr>
            <a:xfrm>
              <a:off x="666750" y="2929467"/>
              <a:ext cx="3598333" cy="1608666"/>
              <a:chOff x="666750" y="2929467"/>
              <a:chExt cx="3598333" cy="1608666"/>
            </a:xfrm>
          </p:grpSpPr>
          <p:sp>
            <p:nvSpPr>
              <p:cNvPr id="288" name="" descr="{&quot;isTemplate&quot;:true,&quot;type&quot;:&quot;serialNumber&quot;}"/>
              <p:cNvSpPr/>
              <p:nvPr/>
            </p:nvSpPr>
            <p:spPr>
              <a:xfrm rot="0" flipH="false" flipV="false">
                <a:off x="3833083" y="3169015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02</a:t>
                </a:r>
                <a:endParaRPr/>
              </a:p>
            </p:txBody>
          </p:sp>
          <p:sp>
            <p:nvSpPr>
              <p:cNvPr id="289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2929467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循环结构使用</a:t>
                </a:r>
                <a:endParaRPr/>
              </a:p>
            </p:txBody>
          </p:sp>
          <p:sp>
            <p:nvSpPr>
              <p:cNvPr id="290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3418417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运用for遍历序列元素，用while根据条件重复执行代码，高效处理批量数据与重复性任务。</a:t>
                </a:r>
                <a:endParaRPr/>
              </a:p>
            </p:txBody>
          </p:sp>
        </p:grpSp>
        <p:grpSp>
          <p:nvGrpSpPr>
            <p:cNvPr id="291" name=""/>
            <p:cNvGrpSpPr/>
            <p:nvPr/>
          </p:nvGrpSpPr>
          <p:grpSpPr>
            <a:xfrm>
              <a:off x="666750" y="4627034"/>
              <a:ext cx="3598333" cy="1608666"/>
              <a:chOff x="666750" y="4627034"/>
              <a:chExt cx="3598333" cy="1608666"/>
            </a:xfrm>
          </p:grpSpPr>
          <p:sp>
            <p:nvSpPr>
              <p:cNvPr id="292" name="" descr="{&quot;isTemplate&quot;:true,&quot;type&quot;:&quot;serialNumber&quot;}"/>
              <p:cNvSpPr/>
              <p:nvPr/>
            </p:nvSpPr>
            <p:spPr>
              <a:xfrm rot="0" flipH="false" flipV="false">
                <a:off x="3833083" y="4866582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03</a:t>
                </a:r>
                <a:endParaRPr/>
              </a:p>
            </p:txBody>
          </p:sp>
          <p:sp>
            <p:nvSpPr>
              <p:cNvPr id="293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627034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跳转语句应用</a:t>
                </a:r>
                <a:endParaRPr/>
              </a:p>
            </p:txBody>
          </p:sp>
          <p:sp>
            <p:nvSpPr>
              <p:cNvPr id="294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5115984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通过break终止循环、continue跳过本次循环，灵活控制代码执行流程，提升程序运行效率。</a:t>
                </a:r>
                <a:endParaRPr/>
              </a:p>
            </p:txBody>
          </p:sp>
        </p:grpSp>
        <p:grpSp>
          <p:nvGrpSpPr>
            <p:cNvPr id="295" name=""/>
            <p:cNvGrpSpPr/>
            <p:nvPr/>
          </p:nvGrpSpPr>
          <p:grpSpPr>
            <a:xfrm>
              <a:off x="7920567" y="1231900"/>
              <a:ext cx="3598333" cy="1608666"/>
              <a:chOff x="7920567" y="1231900"/>
              <a:chExt cx="3598333" cy="1608666"/>
            </a:xfrm>
          </p:grpSpPr>
          <p:sp>
            <p:nvSpPr>
              <p:cNvPr id="296" name="" descr="{&quot;isTemplate&quot;:true,&quot;type&quot;:&quot;serialNumber&quot;}"/>
              <p:cNvSpPr/>
              <p:nvPr/>
            </p:nvSpPr>
            <p:spPr>
              <a:xfrm rot="0" flipH="true" flipV="false">
                <a:off x="7920567" y="1471448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04</a:t>
                </a:r>
                <a:endParaRPr/>
              </a:p>
            </p:txBody>
          </p:sp>
          <p:sp>
            <p:nvSpPr>
              <p:cNvPr id="297" name="" descr="{&quot;isTemplate&quot;:true,&quot;type&quot;:&quot;title&quot;,&quot;canOmit&quot;:false}"/>
              <p:cNvSpPr/>
              <p:nvPr/>
            </p:nvSpPr>
            <p:spPr>
              <a:xfrm rot="0" flipH="true" flipV="false">
                <a:off x="8629126" y="1231900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嵌套结构处理</a:t>
                </a:r>
                <a:endParaRPr/>
              </a:p>
            </p:txBody>
          </p:sp>
          <p:sp>
            <p:nvSpPr>
              <p:cNvPr id="298" name="" descr="{&quot;isTemplate&quot;:true,&quot;type&quot;:&quot;content&quot;,&quot;canOmit&quot;:true}"/>
              <p:cNvSpPr/>
              <p:nvPr/>
            </p:nvSpPr>
            <p:spPr>
              <a:xfrm rot="0" flipH="true" flipV="false">
                <a:off x="8629126" y="1720850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将判断、循环相互嵌套，构建复杂逻辑结构，需注意代码缩进规范，避免逻辑层级混乱。</a:t>
                </a:r>
                <a:endParaRPr/>
              </a:p>
            </p:txBody>
          </p:sp>
        </p:grpSp>
        <p:grpSp>
          <p:nvGrpSpPr>
            <p:cNvPr id="299" name=""/>
            <p:cNvGrpSpPr/>
            <p:nvPr/>
          </p:nvGrpSpPr>
          <p:grpSpPr>
            <a:xfrm>
              <a:off x="7920567" y="2929467"/>
              <a:ext cx="3598333" cy="1608666"/>
              <a:chOff x="7920567" y="2929467"/>
              <a:chExt cx="3598333" cy="1608666"/>
            </a:xfrm>
          </p:grpSpPr>
          <p:sp>
            <p:nvSpPr>
              <p:cNvPr id="300" name="" descr="{&quot;isTemplate&quot;:true,&quot;type&quot;:&quot;serialNumber&quot;}"/>
              <p:cNvSpPr/>
              <p:nvPr/>
            </p:nvSpPr>
            <p:spPr>
              <a:xfrm rot="0" flipH="true" flipV="false">
                <a:off x="7920567" y="3169015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05</a:t>
                </a:r>
                <a:endParaRPr/>
              </a:p>
            </p:txBody>
          </p:sp>
          <p:sp>
            <p:nvSpPr>
              <p:cNvPr id="301" name="" descr="{&quot;isTemplate&quot;:true,&quot;type&quot;:&quot;title&quot;,&quot;canOmit&quot;:false}"/>
              <p:cNvSpPr/>
              <p:nvPr/>
            </p:nvSpPr>
            <p:spPr>
              <a:xfrm rot="0" flipH="true" flipV="false">
                <a:off x="8629126" y="2929467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语句执行逻辑</a:t>
                </a:r>
                <a:endParaRPr/>
              </a:p>
            </p:txBody>
          </p:sp>
          <p:sp>
            <p:nvSpPr>
              <p:cNvPr id="302" name="" descr="{&quot;isTemplate&quot;:true,&quot;type&quot;:&quot;content&quot;,&quot;canOmit&quot;:true}"/>
              <p:cNvSpPr/>
              <p:nvPr/>
            </p:nvSpPr>
            <p:spPr>
              <a:xfrm rot="0" flipH="true" flipV="false">
                <a:off x="8629126" y="3418417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程序按从上到下、从左到右的既定顺序执行，遇分支或循环时依条件跳转，保证逻辑通顺。</a:t>
                </a:r>
                <a:endParaRPr/>
              </a:p>
            </p:txBody>
          </p:sp>
        </p:grpSp>
        <p:grpSp>
          <p:nvGrpSpPr>
            <p:cNvPr id="303" name=""/>
            <p:cNvGrpSpPr/>
            <p:nvPr/>
          </p:nvGrpSpPr>
          <p:grpSpPr>
            <a:xfrm>
              <a:off x="7920567" y="4627034"/>
              <a:ext cx="3598333" cy="1608666"/>
              <a:chOff x="7920567" y="4627034"/>
              <a:chExt cx="3598333" cy="1608666"/>
            </a:xfrm>
          </p:grpSpPr>
          <p:sp>
            <p:nvSpPr>
              <p:cNvPr id="304" name="" descr="{&quot;isTemplate&quot;:true,&quot;type&quot;:&quot;serialNumber&quot;}"/>
              <p:cNvSpPr/>
              <p:nvPr/>
            </p:nvSpPr>
            <p:spPr>
              <a:xfrm rot="0" flipH="true" flipV="false">
                <a:off x="7920567" y="4866582"/>
                <a:ext cx="432000" cy="432000"/>
              </a:xfrm>
              <a:prstGeom prst="ellipse">
                <a:avLst/>
              </a:prstGeom>
              <a:solidFill>
                <a:schemeClr val="accent1"/>
              </a:solidFill>
              <a:effectLst/>
            </p:spPr>
            <p:txBody>
              <a:bodyPr wrap="none" lIns="108000" tIns="108000" rIns="108000" bIns="108000" rtlCol="false" anchor="ctr" anchorCtr="false">
                <a:noAutofit/>
              </a:bodyPr>
              <a:lstStyle/>
              <a:p>
                <a:pPr algn="ctr"/>
                <a:r>
                  <a:rPr lang="en-US" b="true">
                    <a:solidFill>
                      <a:schemeClr val="bg1"/>
                    </a:solidFill>
                    <a:sym typeface="思源宋体 CN"/>
                  </a:rPr>
                  <a:t>06</a:t>
                </a:r>
                <a:endParaRPr/>
              </a:p>
            </p:txBody>
          </p:sp>
          <p:sp>
            <p:nvSpPr>
              <p:cNvPr id="305" name="" descr="{&quot;isTemplate&quot;:true,&quot;type&quot;:&quot;title&quot;,&quot;canOmit&quot;:false}"/>
              <p:cNvSpPr/>
              <p:nvPr/>
            </p:nvSpPr>
            <p:spPr>
              <a:xfrm rot="0" flipH="true" flipV="false">
                <a:off x="8629126" y="4627034"/>
                <a:ext cx="2889774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流程优化方法</a:t>
                </a:r>
                <a:endParaRPr/>
              </a:p>
            </p:txBody>
          </p:sp>
          <p:sp>
            <p:nvSpPr>
              <p:cNvPr id="306" name="" descr="{&quot;isTemplate&quot;:true,&quot;type&quot;:&quot;content&quot;,&quot;canOmit&quot;:true}"/>
              <p:cNvSpPr/>
              <p:nvPr/>
            </p:nvSpPr>
            <p:spPr>
              <a:xfrm rot="0" flipH="true" flipV="false">
                <a:off x="8629126" y="5115984"/>
                <a:ext cx="2889774" cy="1119716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SzPct val="25000"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简化冗余判断与无效循环，精简重复代码，减少执行耗时，提升整体代码运行流畅度。</a:t>
                </a:r>
                <a:endParaRPr/>
              </a:p>
            </p:txBody>
          </p:sp>
        </p:grpSp>
      </p:grpSp>
      <p:grpSp>
        <p:nvGrpSpPr>
          <p:cNvPr id="307" name=""/>
          <p:cNvGrpSpPr/>
          <p:nvPr/>
        </p:nvGrpSpPr>
        <p:grpSpPr>
          <a:xfrm>
            <a:off x="3996742" y="1854624"/>
            <a:ext cx="4260550" cy="4323986"/>
            <a:chOff x="3996742" y="1854624"/>
            <a:chExt cx="4260550" cy="4323986"/>
          </a:xfrm>
        </p:grpSpPr>
        <p:grpSp>
          <p:nvGrpSpPr>
            <p:cNvPr id="308" name=""/>
            <p:cNvGrpSpPr/>
            <p:nvPr/>
          </p:nvGrpSpPr>
          <p:grpSpPr>
            <a:xfrm>
              <a:off x="4357687" y="1854624"/>
              <a:ext cx="3538657" cy="3481759"/>
              <a:chOff x="4357687" y="1854624"/>
              <a:chExt cx="3538657" cy="3481759"/>
            </a:xfrm>
          </p:grpSpPr>
          <p:sp>
            <p:nvSpPr>
              <p:cNvPr id="309" name=""/>
              <p:cNvSpPr/>
              <p:nvPr/>
            </p:nvSpPr>
            <p:spPr bwMode="auto">
              <a:xfrm rot="0" flipH="false" flipV="false">
                <a:off x="6578525" y="4861013"/>
                <a:ext cx="712136" cy="471699"/>
              </a:xfrm>
              <a:custGeom>
                <a:avLst/>
                <a:gdLst>
                  <a:gd name="T0" fmla="*/ 1544 w 1710"/>
                  <a:gd name="T1" fmla="*/ 0 h 1133"/>
                  <a:gd name="T2" fmla="*/ 297 w 1710"/>
                  <a:gd name="T3" fmla="*/ 735 h 1133"/>
                  <a:gd name="T4" fmla="*/ 380 w 1710"/>
                  <a:gd name="T5" fmla="*/ 581 h 1133"/>
                  <a:gd name="T6" fmla="*/ 173 w 1710"/>
                  <a:gd name="T7" fmla="*/ 642 h 1133"/>
                  <a:gd name="T8" fmla="*/ 0 w 1710"/>
                  <a:gd name="T9" fmla="*/ 960 h 1133"/>
                  <a:gd name="T10" fmla="*/ 317 w 1710"/>
                  <a:gd name="T11" fmla="*/ 1132 h 1133"/>
                  <a:gd name="T12" fmla="*/ 525 w 1710"/>
                  <a:gd name="T13" fmla="*/ 1071 h 1133"/>
                  <a:gd name="T14" fmla="*/ 358 w 1710"/>
                  <a:gd name="T15" fmla="*/ 980 h 1133"/>
                  <a:gd name="T16" fmla="*/ 1709 w 1710"/>
                  <a:gd name="T17" fmla="*/ 189 h 1133"/>
                  <a:gd name="T18" fmla="*/ 1544 w 1710"/>
                  <a:gd name="T19" fmla="*/ 0 h 1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10" h="1133">
                    <a:moveTo>
                      <a:pt x="1544" y="0"/>
                    </a:moveTo>
                    <a:cubicBezTo>
                      <a:pt x="1180" y="318"/>
                      <a:pt x="752" y="570"/>
                      <a:pt x="297" y="735"/>
                    </a:cubicBezTo>
                    <a:lnTo>
                      <a:pt x="380" y="581"/>
                    </a:lnTo>
                    <a:lnTo>
                      <a:pt x="173" y="642"/>
                    </a:lnTo>
                    <a:lnTo>
                      <a:pt x="0" y="960"/>
                    </a:lnTo>
                    <a:lnTo>
                      <a:pt x="317" y="1132"/>
                    </a:lnTo>
                    <a:lnTo>
                      <a:pt x="525" y="1071"/>
                    </a:lnTo>
                    <a:lnTo>
                      <a:pt x="358" y="980"/>
                    </a:lnTo>
                    <a:cubicBezTo>
                      <a:pt x="851" y="804"/>
                      <a:pt x="1316" y="533"/>
                      <a:pt x="1709" y="189"/>
                    </a:cubicBezTo>
                    <a:lnTo>
                      <a:pt x="1544" y="0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0" name=""/>
              <p:cNvSpPr/>
              <p:nvPr/>
            </p:nvSpPr>
            <p:spPr bwMode="auto">
              <a:xfrm rot="0" flipH="false" flipV="false">
                <a:off x="5115709" y="4941771"/>
                <a:ext cx="708465" cy="394612"/>
              </a:xfrm>
              <a:custGeom>
                <a:avLst/>
                <a:gdLst>
                  <a:gd name="T0" fmla="*/ 531 w 1700"/>
                  <a:gd name="T1" fmla="*/ 127 h 946"/>
                  <a:gd name="T2" fmla="*/ 356 w 1700"/>
                  <a:gd name="T3" fmla="*/ 0 h 946"/>
                  <a:gd name="T4" fmla="*/ 0 w 1700"/>
                  <a:gd name="T5" fmla="*/ 56 h 946"/>
                  <a:gd name="T6" fmla="*/ 56 w 1700"/>
                  <a:gd name="T7" fmla="*/ 413 h 946"/>
                  <a:gd name="T8" fmla="*/ 231 w 1700"/>
                  <a:gd name="T9" fmla="*/ 540 h 946"/>
                  <a:gd name="T10" fmla="*/ 201 w 1700"/>
                  <a:gd name="T11" fmla="*/ 352 h 946"/>
                  <a:gd name="T12" fmla="*/ 1650 w 1700"/>
                  <a:gd name="T13" fmla="*/ 945 h 946"/>
                  <a:gd name="T14" fmla="*/ 1699 w 1700"/>
                  <a:gd name="T15" fmla="*/ 699 h 946"/>
                  <a:gd name="T16" fmla="*/ 358 w 1700"/>
                  <a:gd name="T17" fmla="*/ 155 h 946"/>
                  <a:gd name="T18" fmla="*/ 531 w 1700"/>
                  <a:gd name="T19" fmla="*/ 127 h 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0" h="946">
                    <a:moveTo>
                      <a:pt x="531" y="127"/>
                    </a:moveTo>
                    <a:lnTo>
                      <a:pt x="356" y="0"/>
                    </a:lnTo>
                    <a:lnTo>
                      <a:pt x="0" y="56"/>
                    </a:lnTo>
                    <a:lnTo>
                      <a:pt x="56" y="413"/>
                    </a:lnTo>
                    <a:lnTo>
                      <a:pt x="231" y="540"/>
                    </a:lnTo>
                    <a:lnTo>
                      <a:pt x="201" y="352"/>
                    </a:lnTo>
                    <a:cubicBezTo>
                      <a:pt x="642" y="638"/>
                      <a:pt x="1139" y="842"/>
                      <a:pt x="1650" y="945"/>
                    </a:cubicBezTo>
                    <a:lnTo>
                      <a:pt x="1699" y="699"/>
                    </a:lnTo>
                    <a:cubicBezTo>
                      <a:pt x="1227" y="604"/>
                      <a:pt x="767" y="417"/>
                      <a:pt x="358" y="155"/>
                    </a:cubicBezTo>
                    <a:lnTo>
                      <a:pt x="531" y="127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1" name=""/>
              <p:cNvSpPr/>
              <p:nvPr/>
            </p:nvSpPr>
            <p:spPr bwMode="auto">
              <a:xfrm rot="0" flipH="false" flipV="false">
                <a:off x="7643058" y="3519334"/>
                <a:ext cx="253286" cy="759856"/>
              </a:xfrm>
              <a:custGeom>
                <a:avLst/>
                <a:gdLst>
                  <a:gd name="T0" fmla="*/ 323 w 609"/>
                  <a:gd name="T1" fmla="*/ 16 h 1826"/>
                  <a:gd name="T2" fmla="*/ 149 w 609"/>
                  <a:gd name="T3" fmla="*/ 1454 h 1826"/>
                  <a:gd name="T4" fmla="*/ 77 w 609"/>
                  <a:gd name="T5" fmla="*/ 1293 h 1826"/>
                  <a:gd name="T6" fmla="*/ 0 w 609"/>
                  <a:gd name="T7" fmla="*/ 1495 h 1826"/>
                  <a:gd name="T8" fmla="*/ 146 w 609"/>
                  <a:gd name="T9" fmla="*/ 1825 h 1826"/>
                  <a:gd name="T10" fmla="*/ 476 w 609"/>
                  <a:gd name="T11" fmla="*/ 1678 h 1826"/>
                  <a:gd name="T12" fmla="*/ 554 w 609"/>
                  <a:gd name="T13" fmla="*/ 1476 h 1826"/>
                  <a:gd name="T14" fmla="*/ 380 w 609"/>
                  <a:gd name="T15" fmla="*/ 1553 h 1826"/>
                  <a:gd name="T16" fmla="*/ 574 w 609"/>
                  <a:gd name="T17" fmla="*/ 0 h 1826"/>
                  <a:gd name="T18" fmla="*/ 323 w 609"/>
                  <a:gd name="T19" fmla="*/ 16 h 1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9" h="1826">
                    <a:moveTo>
                      <a:pt x="323" y="16"/>
                    </a:moveTo>
                    <a:cubicBezTo>
                      <a:pt x="355" y="509"/>
                      <a:pt x="296" y="992"/>
                      <a:pt x="149" y="1454"/>
                    </a:cubicBezTo>
                    <a:lnTo>
                      <a:pt x="77" y="1293"/>
                    </a:lnTo>
                    <a:lnTo>
                      <a:pt x="0" y="1495"/>
                    </a:lnTo>
                    <a:lnTo>
                      <a:pt x="146" y="1825"/>
                    </a:lnTo>
                    <a:lnTo>
                      <a:pt x="476" y="1678"/>
                    </a:lnTo>
                    <a:lnTo>
                      <a:pt x="554" y="1476"/>
                    </a:lnTo>
                    <a:lnTo>
                      <a:pt x="380" y="1553"/>
                    </a:lnTo>
                    <a:cubicBezTo>
                      <a:pt x="543" y="1054"/>
                      <a:pt x="608" y="533"/>
                      <a:pt x="574" y="0"/>
                    </a:cubicBezTo>
                    <a:lnTo>
                      <a:pt x="323" y="16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2" name=""/>
              <p:cNvSpPr/>
              <p:nvPr/>
            </p:nvSpPr>
            <p:spPr bwMode="auto">
              <a:xfrm rot="0" flipH="false" flipV="false">
                <a:off x="4357687" y="3623952"/>
                <a:ext cx="321196" cy="770869"/>
              </a:xfrm>
              <a:custGeom>
                <a:avLst/>
                <a:gdLst>
                  <a:gd name="T0" fmla="*/ 517 w 771"/>
                  <a:gd name="T1" fmla="*/ 464 h 1851"/>
                  <a:gd name="T2" fmla="*/ 510 w 771"/>
                  <a:gd name="T3" fmla="*/ 248 h 1851"/>
                  <a:gd name="T4" fmla="*/ 247 w 771"/>
                  <a:gd name="T5" fmla="*/ 0 h 1851"/>
                  <a:gd name="T6" fmla="*/ 0 w 771"/>
                  <a:gd name="T7" fmla="*/ 263 h 1851"/>
                  <a:gd name="T8" fmla="*/ 6 w 771"/>
                  <a:gd name="T9" fmla="*/ 480 h 1851"/>
                  <a:gd name="T10" fmla="*/ 135 w 771"/>
                  <a:gd name="T11" fmla="*/ 343 h 1851"/>
                  <a:gd name="T12" fmla="*/ 545 w 771"/>
                  <a:gd name="T13" fmla="*/ 1850 h 1851"/>
                  <a:gd name="T14" fmla="*/ 770 w 771"/>
                  <a:gd name="T15" fmla="*/ 1740 h 1851"/>
                  <a:gd name="T16" fmla="*/ 386 w 771"/>
                  <a:gd name="T17" fmla="*/ 342 h 1851"/>
                  <a:gd name="T18" fmla="*/ 517 w 771"/>
                  <a:gd name="T19" fmla="*/ 464 h 1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1" h="1851">
                    <a:moveTo>
                      <a:pt x="517" y="464"/>
                    </a:moveTo>
                    <a:lnTo>
                      <a:pt x="510" y="248"/>
                    </a:lnTo>
                    <a:lnTo>
                      <a:pt x="247" y="0"/>
                    </a:lnTo>
                    <a:lnTo>
                      <a:pt x="0" y="263"/>
                    </a:lnTo>
                    <a:lnTo>
                      <a:pt x="6" y="480"/>
                    </a:lnTo>
                    <a:lnTo>
                      <a:pt x="135" y="343"/>
                    </a:lnTo>
                    <a:cubicBezTo>
                      <a:pt x="176" y="871"/>
                      <a:pt x="314" y="1378"/>
                      <a:pt x="545" y="1850"/>
                    </a:cubicBezTo>
                    <a:lnTo>
                      <a:pt x="770" y="1740"/>
                    </a:lnTo>
                    <a:cubicBezTo>
                      <a:pt x="556" y="1301"/>
                      <a:pt x="427" y="831"/>
                      <a:pt x="386" y="342"/>
                    </a:cubicBezTo>
                    <a:lnTo>
                      <a:pt x="517" y="464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3" name=""/>
              <p:cNvSpPr/>
              <p:nvPr/>
            </p:nvSpPr>
            <p:spPr bwMode="auto">
              <a:xfrm rot="0" flipH="false" flipV="false">
                <a:off x="7231928" y="2331828"/>
                <a:ext cx="532267" cy="664415"/>
              </a:xfrm>
              <a:custGeom>
                <a:avLst/>
                <a:gdLst>
                  <a:gd name="T0" fmla="*/ 810 w 1279"/>
                  <a:gd name="T1" fmla="*/ 1465 h 1596"/>
                  <a:gd name="T2" fmla="*/ 1147 w 1279"/>
                  <a:gd name="T3" fmla="*/ 1595 h 1596"/>
                  <a:gd name="T4" fmla="*/ 1278 w 1279"/>
                  <a:gd name="T5" fmla="*/ 1259 h 1596"/>
                  <a:gd name="T6" fmla="*/ 1190 w 1279"/>
                  <a:gd name="T7" fmla="*/ 1060 h 1596"/>
                  <a:gd name="T8" fmla="*/ 1121 w 1279"/>
                  <a:gd name="T9" fmla="*/ 1238 h 1596"/>
                  <a:gd name="T10" fmla="*/ 166 w 1279"/>
                  <a:gd name="T11" fmla="*/ 0 h 1596"/>
                  <a:gd name="T12" fmla="*/ 0 w 1279"/>
                  <a:gd name="T13" fmla="*/ 186 h 1596"/>
                  <a:gd name="T14" fmla="*/ 887 w 1279"/>
                  <a:gd name="T15" fmla="*/ 1330 h 1596"/>
                  <a:gd name="T16" fmla="*/ 723 w 1279"/>
                  <a:gd name="T17" fmla="*/ 1266 h 1596"/>
                  <a:gd name="T18" fmla="*/ 810 w 1279"/>
                  <a:gd name="T19" fmla="*/ 1465 h 1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79" h="1596">
                    <a:moveTo>
                      <a:pt x="810" y="1465"/>
                    </a:moveTo>
                    <a:lnTo>
                      <a:pt x="1147" y="1595"/>
                    </a:lnTo>
                    <a:lnTo>
                      <a:pt x="1278" y="1259"/>
                    </a:lnTo>
                    <a:lnTo>
                      <a:pt x="1190" y="1060"/>
                    </a:lnTo>
                    <a:lnTo>
                      <a:pt x="1121" y="1238"/>
                    </a:lnTo>
                    <a:cubicBezTo>
                      <a:pt x="885" y="771"/>
                      <a:pt x="557" y="345"/>
                      <a:pt x="166" y="0"/>
                    </a:cubicBezTo>
                    <a:lnTo>
                      <a:pt x="0" y="186"/>
                    </a:lnTo>
                    <a:cubicBezTo>
                      <a:pt x="361" y="507"/>
                      <a:pt x="665" y="900"/>
                      <a:pt x="887" y="1330"/>
                    </a:cubicBezTo>
                    <a:lnTo>
                      <a:pt x="723" y="1266"/>
                    </a:lnTo>
                    <a:lnTo>
                      <a:pt x="810" y="1465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4" name=""/>
              <p:cNvSpPr/>
              <p:nvPr/>
            </p:nvSpPr>
            <p:spPr bwMode="auto">
              <a:xfrm rot="0" flipH="false" flipV="false">
                <a:off x="4590783" y="2273095"/>
                <a:ext cx="535938" cy="629543"/>
              </a:xfrm>
              <a:custGeom>
                <a:avLst/>
                <a:gdLst>
                  <a:gd name="T0" fmla="*/ 1080 w 1288"/>
                  <a:gd name="T1" fmla="*/ 532 h 1512"/>
                  <a:gd name="T2" fmla="*/ 1249 w 1288"/>
                  <a:gd name="T3" fmla="*/ 396 h 1512"/>
                  <a:gd name="T4" fmla="*/ 1287 w 1288"/>
                  <a:gd name="T5" fmla="*/ 38 h 1512"/>
                  <a:gd name="T6" fmla="*/ 928 w 1288"/>
                  <a:gd name="T7" fmla="*/ 0 h 1512"/>
                  <a:gd name="T8" fmla="*/ 760 w 1288"/>
                  <a:gd name="T9" fmla="*/ 136 h 1512"/>
                  <a:gd name="T10" fmla="*/ 949 w 1288"/>
                  <a:gd name="T11" fmla="*/ 156 h 1512"/>
                  <a:gd name="T12" fmla="*/ 0 w 1288"/>
                  <a:gd name="T13" fmla="*/ 1399 h 1512"/>
                  <a:gd name="T14" fmla="*/ 224 w 1288"/>
                  <a:gd name="T15" fmla="*/ 1511 h 1512"/>
                  <a:gd name="T16" fmla="*/ 1099 w 1288"/>
                  <a:gd name="T17" fmla="*/ 357 h 1512"/>
                  <a:gd name="T18" fmla="*/ 1080 w 1288"/>
                  <a:gd name="T19" fmla="*/ 532 h 1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88" h="1512">
                    <a:moveTo>
                      <a:pt x="1080" y="532"/>
                    </a:moveTo>
                    <a:lnTo>
                      <a:pt x="1249" y="396"/>
                    </a:lnTo>
                    <a:lnTo>
                      <a:pt x="1287" y="38"/>
                    </a:lnTo>
                    <a:lnTo>
                      <a:pt x="928" y="0"/>
                    </a:lnTo>
                    <a:lnTo>
                      <a:pt x="760" y="136"/>
                    </a:lnTo>
                    <a:lnTo>
                      <a:pt x="949" y="156"/>
                    </a:lnTo>
                    <a:cubicBezTo>
                      <a:pt x="559" y="506"/>
                      <a:pt x="233" y="933"/>
                      <a:pt x="0" y="1399"/>
                    </a:cubicBezTo>
                    <a:lnTo>
                      <a:pt x="224" y="1511"/>
                    </a:lnTo>
                    <a:cubicBezTo>
                      <a:pt x="440" y="1080"/>
                      <a:pt x="740" y="684"/>
                      <a:pt x="1099" y="357"/>
                    </a:cubicBezTo>
                    <a:lnTo>
                      <a:pt x="1080" y="532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  <p:sp>
            <p:nvSpPr>
              <p:cNvPr id="315" name=""/>
              <p:cNvSpPr/>
              <p:nvPr/>
            </p:nvSpPr>
            <p:spPr bwMode="auto">
              <a:xfrm rot="0" flipH="false" flipV="false">
                <a:off x="5816833" y="1854624"/>
                <a:ext cx="776375" cy="227589"/>
              </a:xfrm>
              <a:custGeom>
                <a:avLst/>
                <a:gdLst>
                  <a:gd name="T0" fmla="*/ 1343 w 1864"/>
                  <a:gd name="T1" fmla="*/ 496 h 549"/>
                  <a:gd name="T2" fmla="*/ 1554 w 1864"/>
                  <a:gd name="T3" fmla="*/ 548 h 549"/>
                  <a:gd name="T4" fmla="*/ 1863 w 1864"/>
                  <a:gd name="T5" fmla="*/ 362 h 549"/>
                  <a:gd name="T6" fmla="*/ 1677 w 1864"/>
                  <a:gd name="T7" fmla="*/ 53 h 549"/>
                  <a:gd name="T8" fmla="*/ 1467 w 1864"/>
                  <a:gd name="T9" fmla="*/ 0 h 549"/>
                  <a:gd name="T10" fmla="*/ 1566 w 1864"/>
                  <a:gd name="T11" fmla="*/ 165 h 549"/>
                  <a:gd name="T12" fmla="*/ 525 w 1864"/>
                  <a:gd name="T13" fmla="*/ 102 h 549"/>
                  <a:gd name="T14" fmla="*/ 0 w 1864"/>
                  <a:gd name="T15" fmla="*/ 169 h 549"/>
                  <a:gd name="T16" fmla="*/ 47 w 1864"/>
                  <a:gd name="T17" fmla="*/ 416 h 549"/>
                  <a:gd name="T18" fmla="*/ 542 w 1864"/>
                  <a:gd name="T19" fmla="*/ 353 h 549"/>
                  <a:gd name="T20" fmla="*/ 1492 w 1864"/>
                  <a:gd name="T21" fmla="*/ 407 h 549"/>
                  <a:gd name="T22" fmla="*/ 1343 w 1864"/>
                  <a:gd name="T23" fmla="*/ 496 h 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64" h="549">
                    <a:moveTo>
                      <a:pt x="1343" y="496"/>
                    </a:moveTo>
                    <a:lnTo>
                      <a:pt x="1554" y="548"/>
                    </a:lnTo>
                    <a:lnTo>
                      <a:pt x="1863" y="362"/>
                    </a:lnTo>
                    <a:lnTo>
                      <a:pt x="1677" y="53"/>
                    </a:lnTo>
                    <a:lnTo>
                      <a:pt x="1467" y="0"/>
                    </a:lnTo>
                    <a:lnTo>
                      <a:pt x="1566" y="165"/>
                    </a:lnTo>
                    <a:cubicBezTo>
                      <a:pt x="1224" y="101"/>
                      <a:pt x="875" y="80"/>
                      <a:pt x="525" y="102"/>
                    </a:cubicBezTo>
                    <a:cubicBezTo>
                      <a:pt x="349" y="113"/>
                      <a:pt x="172" y="136"/>
                      <a:pt x="0" y="169"/>
                    </a:cubicBezTo>
                    <a:lnTo>
                      <a:pt x="47" y="416"/>
                    </a:lnTo>
                    <a:cubicBezTo>
                      <a:pt x="210" y="384"/>
                      <a:pt x="376" y="363"/>
                      <a:pt x="542" y="353"/>
                    </a:cubicBezTo>
                    <a:cubicBezTo>
                      <a:pt x="860" y="332"/>
                      <a:pt x="1179" y="351"/>
                      <a:pt x="1492" y="407"/>
                    </a:cubicBezTo>
                    <a:lnTo>
                      <a:pt x="1343" y="496"/>
                    </a:lnTo>
                  </a:path>
                </a:pathLst>
              </a:cu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100000" lnSpcReduction="20000"/>
              </a:bodyPr>
              <a:lstStyle/>
              <a:p>
                <a:pPr/>
                <a:endParaRPr lang="en-US">
                  <a:sym typeface="思源宋体 CN"/>
                </a:endParaRPr>
              </a:p>
            </p:txBody>
          </p:sp>
        </p:grpSp>
        <p:grpSp>
          <p:nvGrpSpPr>
            <p:cNvPr id="316" name=""/>
            <p:cNvGrpSpPr/>
            <p:nvPr/>
          </p:nvGrpSpPr>
          <p:grpSpPr>
            <a:xfrm>
              <a:off x="3996742" y="2155278"/>
              <a:ext cx="4260550" cy="4023332"/>
              <a:chOff x="3996742" y="2155278"/>
              <a:chExt cx="4260550" cy="4023332"/>
            </a:xfrm>
          </p:grpSpPr>
          <p:sp>
            <p:nvSpPr>
              <p:cNvPr id="317" name=""/>
              <p:cNvSpPr/>
              <p:nvPr/>
            </p:nvSpPr>
            <p:spPr>
              <a:xfrm rot="0" flipH="false" flipV="false">
                <a:off x="4533895" y="4232287"/>
                <a:ext cx="3186242" cy="931833"/>
              </a:xfrm>
              <a:custGeom>
                <a:avLst/>
                <a:gdLst/>
                <a:ahLst/>
                <a:cxnLst/>
                <a:rect l="l" t="t" r="r" b="b"/>
                <a:pathLst>
                  <a:path w="3514050" h="1027434">
                    <a:moveTo>
                      <a:pt x="2971783" y="0"/>
                    </a:moveTo>
                    <a:lnTo>
                      <a:pt x="542266" y="0"/>
                    </a:lnTo>
                    <a:lnTo>
                      <a:pt x="0" y="1027434"/>
                    </a:lnTo>
                    <a:lnTo>
                      <a:pt x="3514050" y="1027434"/>
                    </a:lnTo>
                    <a:lnTo>
                      <a:pt x="2971783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</p:spPr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algn="ctr"/>
                <a:endParaRPr lang="zh-CN" sz="1400" b="true">
                  <a:solidFill>
                    <a:schemeClr val="bg1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318" name=""/>
              <p:cNvSpPr/>
              <p:nvPr/>
            </p:nvSpPr>
            <p:spPr>
              <a:xfrm rot="0" flipH="false" flipV="false">
                <a:off x="5608205" y="2155278"/>
                <a:ext cx="1037620" cy="979851"/>
              </a:xfrm>
              <a:custGeom>
                <a:avLst/>
                <a:gdLst/>
                <a:ahLst/>
                <a:cxnLst/>
                <a:rect l="l" t="t" r="r" b="b"/>
                <a:pathLst>
                  <a:path w="1144373" h="1080375">
                    <a:moveTo>
                      <a:pt x="572181" y="0"/>
                    </a:moveTo>
                    <a:lnTo>
                      <a:pt x="0" y="1080375"/>
                    </a:lnTo>
                    <a:lnTo>
                      <a:pt x="1144373" y="1080375"/>
                    </a:lnTo>
                    <a:lnTo>
                      <a:pt x="572181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</p:spPr>
            <p:txBody>
              <a:bodyPr wrap="square" lIns="91440" tIns="45720" rIns="91440" bIns="45720" rtlCol="false" anchor="b" anchorCtr="false">
                <a:normAutofit fontScale="100000"/>
              </a:bodyPr>
              <a:lstStyle/>
              <a:p>
                <a:pPr algn="ctr"/>
                <a:endParaRPr lang="zh-CN" sz="1100" b="true">
                  <a:solidFill>
                    <a:schemeClr val="bg1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319" name=""/>
              <p:cNvSpPr/>
              <p:nvPr/>
            </p:nvSpPr>
            <p:spPr>
              <a:xfrm rot="0" flipH="false" flipV="false">
                <a:off x="3996742" y="5246785"/>
                <a:ext cx="4260550" cy="931825"/>
              </a:xfrm>
              <a:custGeom>
                <a:avLst/>
                <a:gdLst/>
                <a:ahLst/>
                <a:cxnLst/>
                <a:rect l="l" t="t" r="r" b="b"/>
                <a:pathLst>
                  <a:path w="4698883" h="1027424">
                    <a:moveTo>
                      <a:pt x="4157067" y="0"/>
                    </a:moveTo>
                    <a:lnTo>
                      <a:pt x="541815" y="0"/>
                    </a:lnTo>
                    <a:lnTo>
                      <a:pt x="0" y="1027424"/>
                    </a:lnTo>
                    <a:lnTo>
                      <a:pt x="4698883" y="1027424"/>
                    </a:lnTo>
                    <a:lnTo>
                      <a:pt x="4157067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algn="ctr"/>
                <a:endParaRPr lang="zh-CN" sz="1600" b="true">
                  <a:solidFill>
                    <a:schemeClr val="bg1">
                      <a:alpha val="100000"/>
                    </a:schemeClr>
                  </a:solidFill>
                  <a:sym typeface="思源宋体 CN"/>
                </a:endParaRPr>
              </a:p>
            </p:txBody>
          </p:sp>
          <p:sp>
            <p:nvSpPr>
              <p:cNvPr id="320" name=""/>
              <p:cNvSpPr/>
              <p:nvPr/>
            </p:nvSpPr>
            <p:spPr>
              <a:xfrm rot="0" flipH="false" flipV="false">
                <a:off x="5071058" y="3217791"/>
                <a:ext cx="2111916" cy="931833"/>
              </a:xfrm>
              <a:custGeom>
                <a:avLst/>
                <a:gdLst/>
                <a:ahLst/>
                <a:cxnLst/>
                <a:rect l="l" t="t" r="r" b="b"/>
                <a:pathLst>
                  <a:path w="2329196" h="1027434">
                    <a:moveTo>
                      <a:pt x="1786039" y="0"/>
                    </a:moveTo>
                    <a:lnTo>
                      <a:pt x="543166" y="0"/>
                    </a:lnTo>
                    <a:lnTo>
                      <a:pt x="0" y="1027434"/>
                    </a:lnTo>
                    <a:lnTo>
                      <a:pt x="2329196" y="1027434"/>
                    </a:lnTo>
                    <a:lnTo>
                      <a:pt x="1786039" y="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algn="ctr"/>
                <a:endParaRPr lang="zh-CN" sz="1200" b="true">
                  <a:solidFill>
                    <a:schemeClr val="bg1">
                      <a:alpha val="100000"/>
                    </a:schemeClr>
                  </a:solidFill>
                  <a:sym typeface="思源宋体 CN"/>
                </a:endParaRPr>
              </a:p>
            </p:txBody>
          </p:sp>
        </p:grpSp>
      </p:grpSp>
      <p:sp>
        <p:nvSpPr>
          <p:cNvPr id="321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流程控制语句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22" name="" descr="{&quot;isTemplate&quot;:true,&quot;type&quot;:&quot;session&quot;,&quot;originSlideId&quot;:&quot;gwll2gdu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4" descr="{&quot;isTemplate&quot;:true,&quot;type&quot;:&quot;serialNumber&quot;}"/>
          <p:cNvSpPr txBox="true"/>
          <p:nvPr/>
        </p:nvSpPr>
        <p:spPr>
          <a:xfrm rot="0" flipH="false" flipV="false">
            <a:off x="3270458" y="3009487"/>
            <a:ext cx="1027845" cy="1055289"/>
          </a:xfrm>
          <a:prstGeom prst="rect"/>
          <a:noFill/>
        </p:spPr>
        <p:txBody>
          <a:bodyPr wrap="none" anchor="ctr">
            <a:spAutoFit/>
          </a:bodyPr>
          <a:p>
            <a:pPr algn="ctr" defTabSz="914400">
              <a:lnSpc>
                <a:spcPct val="130000"/>
              </a:lnSpc>
              <a:buClrTx/>
              <a:buSzTx/>
              <a:buFontTx/>
            </a:pPr>
            <a:r>
              <a:rPr lang="en-US" sz="8000" b="true" kern="1200" spc="0" baseline="12000">
                <a:solidFill>
                  <a:schemeClr val="bg1"/>
                </a:solidFill>
                <a:effectLst>
                  <a:innerShdw blurRad="63500" dist="50800" dir="18900000">
                    <a:srgbClr val="000000">
                      <a:alpha val="30000"/>
                    </a:srgbClr>
                  </a:innerShdw>
                </a:effectLst>
                <a:latin typeface="微软雅黑"/>
                <a:ea typeface="微软雅黑"/>
              </a:rPr>
              <a:t>02</a:t>
            </a:r>
            <a:endParaRPr lang="zh-CN" sz="8000" b="true" kern="1200" spc="0" baseline="12000">
              <a:solidFill>
                <a:schemeClr val="bg1"/>
              </a:solidFill>
              <a:effectLst>
                <a:innerShdw blurRad="63500" dist="50800" dir="18900000">
                  <a:srgbClr val="000000">
                    <a:alpha val="30000"/>
                  </a:srgbClr>
                </a:innerShdw>
              </a:effectLst>
              <a:latin typeface="微软雅黑"/>
              <a:ea typeface="微软雅黑"/>
            </a:endParaRPr>
          </a:p>
        </p:txBody>
      </p:sp>
      <p:sp>
        <p:nvSpPr>
          <p:cNvPr id="324" name="文本框 6" descr="{&quot;isTemplate&quot;:true,&quot;type&quot;:&quot;title&quot;,&quot;canOmit&quot;:false}"/>
          <p:cNvSpPr txBox="true"/>
          <p:nvPr/>
        </p:nvSpPr>
        <p:spPr>
          <a:xfrm rot="0" flipH="false" flipV="false">
            <a:off x="5830254" y="2264722"/>
            <a:ext cx="6178513" cy="2544819"/>
          </a:xfrm>
          <a:prstGeom prst="rect"/>
          <a:noFill/>
        </p:spPr>
        <p:txBody>
          <a:bodyPr wrap="square" anchor="ctr">
            <a:noAutofit/>
          </a:bodyPr>
          <a:lstStyle/>
          <a:p>
            <a:pPr marL="0" indent="0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sz="4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核心进阶知识掌握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5" name="" descr="{&quot;isTemplate&quot;:true,&quot;type&quot;:&quot;page&quot;,&quot;originSlideId&quot;:&quot;27160e15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5033338" y="1492596"/>
            <a:ext cx="6485562" cy="4743104"/>
            <a:chOff x="5033338" y="1492596"/>
            <a:chExt cx="6485562" cy="4743104"/>
          </a:xfrm>
        </p:grpSpPr>
        <p:grpSp>
          <p:nvGrpSpPr>
            <p:cNvPr id="327" name=""/>
            <p:cNvGrpSpPr/>
            <p:nvPr/>
          </p:nvGrpSpPr>
          <p:grpSpPr>
            <a:xfrm>
              <a:off x="5038917" y="1492596"/>
              <a:ext cx="6479983" cy="1416050"/>
              <a:chOff x="5038917" y="1492596"/>
              <a:chExt cx="6479983" cy="1416050"/>
            </a:xfrm>
          </p:grpSpPr>
          <p:sp>
            <p:nvSpPr>
              <p:cNvPr id="328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5038917" y="1492596"/>
                <a:ext cx="6479983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函数定义与调用</a:t>
                </a:r>
                <a:endParaRPr/>
              </a:p>
            </p:txBody>
          </p:sp>
          <p:sp>
            <p:nvSpPr>
              <p:cNvPr id="329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5038917" y="1981546"/>
                <a:ext cx="6479983" cy="92710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使用 def 关键字定义函数，指定函数名与参数列表，通过函数名加括号完成调用，实现代码逻辑封装与复用。</a:t>
                </a:r>
                <a:endParaRPr/>
              </a:p>
            </p:txBody>
          </p:sp>
        </p:grpSp>
        <p:grpSp>
          <p:nvGrpSpPr>
            <p:cNvPr id="330" name=""/>
            <p:cNvGrpSpPr/>
            <p:nvPr/>
          </p:nvGrpSpPr>
          <p:grpSpPr>
            <a:xfrm>
              <a:off x="5033338" y="3156123"/>
              <a:ext cx="6479983" cy="1416050"/>
              <a:chOff x="5033338" y="3156123"/>
              <a:chExt cx="6479983" cy="1416050"/>
            </a:xfrm>
          </p:grpSpPr>
          <p:sp>
            <p:nvSpPr>
              <p:cNvPr id="331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5033338" y="3156123"/>
                <a:ext cx="6479983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参数传递方式</a:t>
                </a:r>
                <a:endParaRPr/>
              </a:p>
            </p:txBody>
          </p:sp>
          <p:sp>
            <p:nvSpPr>
              <p:cNvPr id="332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5033338" y="3645073"/>
                <a:ext cx="6479983" cy="92710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支持位置参数、关键字参数、默认参数及可变参数，灵活处理不同场景下的数据传递需求。</a:t>
                </a:r>
                <a:endParaRPr/>
              </a:p>
            </p:txBody>
          </p:sp>
        </p:grpSp>
        <p:grpSp>
          <p:nvGrpSpPr>
            <p:cNvPr id="333" name=""/>
            <p:cNvGrpSpPr/>
            <p:nvPr/>
          </p:nvGrpSpPr>
          <p:grpSpPr>
            <a:xfrm>
              <a:off x="5033338" y="4819650"/>
              <a:ext cx="6479983" cy="1416050"/>
              <a:chOff x="5033338" y="4819650"/>
              <a:chExt cx="6479983" cy="1416050"/>
            </a:xfrm>
          </p:grpSpPr>
          <p:sp>
            <p:nvSpPr>
              <p:cNvPr id="334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5033338" y="4819650"/>
                <a:ext cx="6479983" cy="48895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24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模块导入方法</a:t>
                </a:r>
                <a:endParaRPr/>
              </a:p>
            </p:txBody>
          </p:sp>
          <p:sp>
            <p:nvSpPr>
              <p:cNvPr id="335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5033338" y="5308600"/>
                <a:ext cx="6479983" cy="927100"/>
              </a:xfrm>
              <a:prstGeom prst="rect">
                <a:avLst/>
              </a:prstGeom>
              <a:noFill/>
              <a:ln w="0">
                <a:noFill/>
                <a:extLst/>
              </a:ln>
            </p:spPr>
            <p:txBody>
              <a:bodyPr vert="horz" wrap="square" lIns="90043" tIns="46863" rIns="90043" bIns="46863" anchor="t">
                <a:noAutofit/>
              </a:bodyPr>
              <a:lstStyle/>
              <a:p>
                <a:pPr mar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Font typeface="Arial" panose="020B0604020202020204" pitchFamily="34" charset="0"/>
                  <a:buNone/>
                  <a:defRPr sz="1600" b="false" spc="0">
                    <a:solidFill>
                      <a:srgbClr val="000000">
                        <a:alpha val="100000"/>
                      </a:srgb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 import 语句导入内置或自定义模块，使用模块名加点号的方式调用其中的函数与变量。</a:t>
                </a:r>
                <a:endParaRPr/>
              </a:p>
            </p:txBody>
          </p:sp>
        </p:grpSp>
      </p:grpSp>
      <p:sp>
        <p:nvSpPr>
          <p:cNvPr id="336" name="任意多边形: 形状 10"/>
          <p:cNvSpPr/>
          <p:nvPr/>
        </p:nvSpPr>
        <p:spPr>
          <a:xfrm rot="0" flipH="false" flipV="false">
            <a:off x="831993" y="1743437"/>
            <a:ext cx="3562082" cy="4488029"/>
          </a:xfrm>
          <a:custGeom>
            <a:avLst/>
            <a:gdLst>
              <a:gd name="connsiteX0" fmla="*/ 361612 w 3562083"/>
              <a:gd name="connsiteY0" fmla="*/ 0 h 5121984"/>
              <a:gd name="connsiteX1" fmla="*/ 3082689 w 3562083"/>
              <a:gd name="connsiteY1" fmla="*/ 192108 h 5121984"/>
              <a:gd name="connsiteX2" fmla="*/ 3560782 w 3562083"/>
              <a:gd name="connsiteY2" fmla="*/ 742835 h 5121984"/>
              <a:gd name="connsiteX3" fmla="*/ 3251614 w 3562083"/>
              <a:gd name="connsiteY3" fmla="*/ 5121984 h 5121984"/>
              <a:gd name="connsiteX4" fmla="*/ 0 w 3562083"/>
              <a:gd name="connsiteY4" fmla="*/ 5121984 h 5121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2083" h="5121984">
                <a:moveTo>
                  <a:pt x="361612" y="0"/>
                </a:moveTo>
                <a:lnTo>
                  <a:pt x="3082689" y="192108"/>
                </a:lnTo>
                <a:cubicBezTo>
                  <a:pt x="3366790" y="212166"/>
                  <a:pt x="3580839" y="458734"/>
                  <a:pt x="3560782" y="742835"/>
                </a:cubicBezTo>
                <a:lnTo>
                  <a:pt x="3251614" y="5121984"/>
                </a:lnTo>
                <a:lnTo>
                  <a:pt x="0" y="512198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false" vertOverflow="overflow" horzOverflow="overflow" vert="horz" wrap="square" lIns="91440" tIns="45720" rIns="91440" bIns="45720" numCol="1" spcCol="0" rtlCol="false" fromWordArt="false" anchor="ctr" anchorCtr="false" forceAA="false" compatLnSpc="true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7" name="PictureMisc1" descr="{&quot;isTemplate&quot;:true,&quot;type&quot;:&quot;image&quot;}"/>
          <p:cNvSpPr/>
          <p:nvPr/>
        </p:nvSpPr>
        <p:spPr>
          <a:xfrm rot="0" flipH="false" flipV="false">
            <a:off x="666750" y="1231900"/>
            <a:ext cx="3337560" cy="5003800"/>
          </a:xfrm>
          <a:prstGeom prst="round1Rect">
            <a:avLst>
              <a:gd name="adj" fmla="val 8839"/>
            </a:avLst>
          </a:prstGeom>
          <a:blipFill>
            <a:blip r:embed="rId1"/>
            <a:tile tx="0" ty="-312896" sx="68437" sy="68437" flip="none" algn="tl"/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/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false" vertOverflow="overflow" horzOverflow="overflow" vert="horz" wrap="square" lIns="91440" tIns="45720" rIns="91440" bIns="45720" numCol="1" spcCol="0" rtlCol="false" fromWordArt="false" anchor="ctr" anchorCtr="false" forceAA="false" compatLnSpc="true">
            <a:prstTxWarp prst="textNoShape">
              <a:avLst/>
            </a:prstTxWarp>
            <a:noAutofit/>
          </a:bodyPr>
          <a:lstStyle/>
          <a:p>
            <a:pPr algn="ctr"/>
            <a:endParaRPr lang="zh-CN">
              <a:solidFill>
                <a:schemeClr val="lt1">
                  <a:alpha val="100000"/>
                </a:schemeClr>
              </a:solidFill>
              <a:sym typeface="Arial"/>
            </a:endParaRPr>
          </a:p>
        </p:txBody>
      </p:sp>
      <p:sp>
        <p:nvSpPr>
          <p:cNvPr id="338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函数与模块使用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39" name="" descr="{&quot;isTemplate&quot;:true,&quot;type&quot;:&quot;page&quot;,&quot;originSlideId&quot;:&quot;35653bac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 rot="0" flipH="false" flipV="false">
            <a:off x="663575" y="1747630"/>
            <a:ext cx="10858500" cy="3881942"/>
            <a:chOff x="666750" y="1676261"/>
            <a:chExt cx="10858500" cy="3881942"/>
          </a:xfrm>
        </p:grpSpPr>
        <p:grpSp>
          <p:nvGrpSpPr>
            <p:cNvPr id="341" name=""/>
            <p:cNvGrpSpPr/>
            <p:nvPr/>
          </p:nvGrpSpPr>
          <p:grpSpPr>
            <a:xfrm>
              <a:off x="666750" y="1676261"/>
              <a:ext cx="2604573" cy="3881942"/>
              <a:chOff x="666750" y="1676261"/>
              <a:chExt cx="2604573" cy="3881942"/>
            </a:xfrm>
          </p:grpSpPr>
          <p:sp>
            <p:nvSpPr>
              <p:cNvPr id="342" name="矩形: 圆角 3"/>
              <p:cNvSpPr/>
              <p:nvPr/>
            </p:nvSpPr>
            <p:spPr>
              <a:xfrm rot="0" flipH="false" flipV="false">
                <a:off x="666750" y="1862503"/>
                <a:ext cx="2604573" cy="3695700"/>
              </a:xfrm>
              <a:prstGeom prst="roundRect">
                <a:avLst>
                  <a:gd name="adj" fmla="val 4300"/>
                </a:avLst>
              </a:prstGeom>
              <a:solidFill>
                <a:schemeClr val="accent2">
                  <a:alpha val="1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wrap="square" lIns="91440" tIns="45720" rIns="91440" bIns="45720" rtlCol="false" anchor="ctr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sz="1000" b="false" i="false" u="none" strike="noStrike" spc="0" baseline="0">
                  <a:ln>
                    <a:noFill/>
                  </a:ln>
                  <a:solidFill>
                    <a:srgbClr val="2F2F2F">
                      <a:alpha val="100000"/>
                    </a:srgbClr>
                  </a:solidFill>
                  <a:effectLst/>
                </a:endParaRPr>
              </a:p>
            </p:txBody>
          </p:sp>
          <p:cxnSp>
            <p:nvCxnSpPr>
              <p:cNvPr id="343" name="直接连接符 4"/>
              <p:cNvCxnSpPr/>
              <p:nvPr/>
            </p:nvCxnSpPr>
            <p:spPr>
              <a:xfrm rot="0" flipH="false" flipV="false">
                <a:off x="1072568" y="4580303"/>
                <a:ext cx="1792937" cy="0"/>
              </a:xfrm>
              <a:prstGeom prst="line">
                <a:avLst/>
              </a:prstGeom>
              <a:ln w="6350">
                <a:solidFill>
                  <a:schemeClr val="accent2">
                    <a:lumMod val="60000"/>
                    <a:lumOff val="40000"/>
                    <a:alpha val="10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4" name="文本框 5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45586" y="2534572"/>
                <a:ext cx="2246902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类与对象定义</a:t>
                </a:r>
                <a:endParaRPr/>
              </a:p>
            </p:txBody>
          </p:sp>
          <p:grpSp>
            <p:nvGrpSpPr>
              <p:cNvPr id="345" name=""/>
              <p:cNvGrpSpPr/>
              <p:nvPr/>
            </p:nvGrpSpPr>
            <p:grpSpPr>
              <a:xfrm>
                <a:off x="1789035" y="1676261"/>
                <a:ext cx="360001" cy="360000"/>
                <a:chOff x="1789035" y="1676261"/>
                <a:chExt cx="360001" cy="360000"/>
              </a:xfrm>
            </p:grpSpPr>
            <p:sp>
              <p:nvSpPr>
                <p:cNvPr id="346" name="矩形: 圆角 29"/>
                <p:cNvSpPr/>
                <p:nvPr/>
              </p:nvSpPr>
              <p:spPr>
                <a:xfrm rot="0" flipH="false" flipV="false">
                  <a:off x="1789035" y="1676261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alpha val="100000"/>
                  </a:schemeClr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lt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047FEA">
                        <a:alpha val="100000"/>
                      </a:srgbClr>
                    </a:solidFill>
                    <a:effectLst/>
                  </a:endParaRPr>
                </a:p>
              </p:txBody>
            </p:sp>
            <p:sp>
              <p:nvSpPr>
                <p:cNvPr id="347" name="任意多边形: 形状 30"/>
                <p:cNvSpPr/>
                <p:nvPr/>
              </p:nvSpPr>
              <p:spPr>
                <a:xfrm rot="0" flipH="false" flipV="false">
                  <a:off x="1887620" y="1801668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chemeClr val="bg1">
                      <a:alpha val="100000"/>
                    </a:schemeClr>
                  </a:solidFill>
                  <a:prstDash val="solid"/>
                  <a:bevel/>
                </a:ln>
              </p:spPr>
              <p:txBody>
                <a:bodyPr rtlCol="false" anchor="ctr"/>
                <a:lstStyle/>
                <a:p>
                  <a:pPr marL="0" lvl="0" indent="0" algn="l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2F2F2F">
                        <a:alpha val="100000"/>
                      </a:srgbClr>
                    </a:solidFill>
                    <a:effectLst/>
                  </a:endParaRPr>
                </a:p>
              </p:txBody>
            </p:sp>
          </p:grpSp>
          <p:sp>
            <p:nvSpPr>
              <p:cNvPr id="348" name="Shape 301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45586" y="3134767"/>
                <a:ext cx="2246902" cy="1758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0043" tIns="46863" rIns="90043" bIns="46863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通过class关键字定义类，明确属性与方法；用类名加括号实例化对象，实现代码对现实实体的抽象映射。</a:t>
                </a:r>
                <a:endParaRPr/>
              </a:p>
            </p:txBody>
          </p:sp>
        </p:grpSp>
        <p:grpSp>
          <p:nvGrpSpPr>
            <p:cNvPr id="349" name=""/>
            <p:cNvGrpSpPr/>
            <p:nvPr/>
          </p:nvGrpSpPr>
          <p:grpSpPr>
            <a:xfrm>
              <a:off x="3418059" y="1676261"/>
              <a:ext cx="2604573" cy="3881942"/>
              <a:chOff x="3418059" y="1676261"/>
              <a:chExt cx="2604573" cy="3881942"/>
            </a:xfrm>
          </p:grpSpPr>
          <p:sp>
            <p:nvSpPr>
              <p:cNvPr id="350" name="矩形: 圆角 7"/>
              <p:cNvSpPr/>
              <p:nvPr/>
            </p:nvSpPr>
            <p:spPr>
              <a:xfrm rot="0" flipH="false" flipV="false">
                <a:off x="3418059" y="1862503"/>
                <a:ext cx="2604573" cy="3695700"/>
              </a:xfrm>
              <a:prstGeom prst="roundRect">
                <a:avLst>
                  <a:gd name="adj" fmla="val 4300"/>
                </a:avLst>
              </a:prstGeom>
              <a:solidFill>
                <a:schemeClr val="accent1">
                  <a:alpha val="1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wrap="square" lIns="91440" tIns="45720" rIns="91440" bIns="45720" rtlCol="false" anchor="ctr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sz="1000" b="false" i="false" u="none" strike="noStrike" spc="0" baseline="0">
                  <a:ln>
                    <a:noFill/>
                  </a:ln>
                  <a:solidFill>
                    <a:srgbClr val="2F2F2F">
                      <a:alpha val="100000"/>
                    </a:srgbClr>
                  </a:solidFill>
                  <a:effectLst/>
                </a:endParaRPr>
              </a:p>
            </p:txBody>
          </p:sp>
          <p:cxnSp>
            <p:nvCxnSpPr>
              <p:cNvPr id="351" name="直接连接符 8"/>
              <p:cNvCxnSpPr/>
              <p:nvPr/>
            </p:nvCxnSpPr>
            <p:spPr>
              <a:xfrm rot="0" flipH="false" flipV="false">
                <a:off x="3823877" y="4580303"/>
                <a:ext cx="1792937" cy="0"/>
              </a:xfrm>
              <a:prstGeom prst="line">
                <a:avLst/>
              </a:prstGeom>
              <a:ln w="6350">
                <a:solidFill>
                  <a:schemeClr val="accent1">
                    <a:lumMod val="60000"/>
                    <a:lumOff val="40000"/>
                    <a:alpha val="10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2" name="文本框 9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3596895" y="2534572"/>
                <a:ext cx="2246903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继承多态实现</a:t>
                </a:r>
                <a:endParaRPr/>
              </a:p>
            </p:txBody>
          </p:sp>
          <p:grpSp>
            <p:nvGrpSpPr>
              <p:cNvPr id="353" name=""/>
              <p:cNvGrpSpPr/>
              <p:nvPr/>
            </p:nvGrpSpPr>
            <p:grpSpPr>
              <a:xfrm>
                <a:off x="4544578" y="1676261"/>
                <a:ext cx="360001" cy="360000"/>
                <a:chOff x="4544578" y="1676261"/>
                <a:chExt cx="360001" cy="360000"/>
              </a:xfrm>
            </p:grpSpPr>
            <p:sp>
              <p:nvSpPr>
                <p:cNvPr id="354" name="矩形: 圆角 27"/>
                <p:cNvSpPr/>
                <p:nvPr/>
              </p:nvSpPr>
              <p:spPr>
                <a:xfrm rot="0" flipH="false" flipV="false">
                  <a:off x="4544578" y="1676261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100000"/>
                  </a:schemeClr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lt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047FEA">
                        <a:alpha val="100000"/>
                      </a:srgbClr>
                    </a:solidFill>
                    <a:effectLst/>
                  </a:endParaRPr>
                </a:p>
              </p:txBody>
            </p:sp>
            <p:sp>
              <p:nvSpPr>
                <p:cNvPr id="355" name="任意多边形: 形状 28"/>
                <p:cNvSpPr/>
                <p:nvPr/>
              </p:nvSpPr>
              <p:spPr>
                <a:xfrm rot="0" flipH="false" flipV="false">
                  <a:off x="4643163" y="1801668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chemeClr val="bg1">
                      <a:alpha val="100000"/>
                    </a:schemeClr>
                  </a:solidFill>
                  <a:prstDash val="solid"/>
                  <a:bevel/>
                </a:ln>
              </p:spPr>
              <p:txBody>
                <a:bodyPr rtlCol="false" anchor="ctr"/>
                <a:lstStyle/>
                <a:p>
                  <a:pPr marL="0" lvl="0" indent="0" algn="l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2F2F2F">
                        <a:alpha val="100000"/>
                      </a:srgbClr>
                    </a:solidFill>
                    <a:effectLst/>
                  </a:endParaRPr>
                </a:p>
              </p:txBody>
            </p:sp>
          </p:grpSp>
          <p:sp>
            <p:nvSpPr>
              <p:cNvPr id="356" name="Shape 301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3596895" y="3134767"/>
                <a:ext cx="2246903" cy="1758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0043" tIns="46863" rIns="90043" bIns="46863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子类继承父类可复用属性和方法，重写方法实现多态，让同一接口表现出不同行为特征。</a:t>
                </a:r>
                <a:endParaRPr/>
              </a:p>
            </p:txBody>
          </p:sp>
        </p:grpSp>
        <p:grpSp>
          <p:nvGrpSpPr>
            <p:cNvPr id="357" name=""/>
            <p:cNvGrpSpPr/>
            <p:nvPr/>
          </p:nvGrpSpPr>
          <p:grpSpPr>
            <a:xfrm>
              <a:off x="6169368" y="1676261"/>
              <a:ext cx="2604573" cy="3881942"/>
              <a:chOff x="6169368" y="1676261"/>
              <a:chExt cx="2604573" cy="3881942"/>
            </a:xfrm>
          </p:grpSpPr>
          <p:sp>
            <p:nvSpPr>
              <p:cNvPr id="358" name="矩形: 圆角 11"/>
              <p:cNvSpPr/>
              <p:nvPr/>
            </p:nvSpPr>
            <p:spPr>
              <a:xfrm rot="0" flipH="false" flipV="false">
                <a:off x="6169368" y="1862503"/>
                <a:ext cx="2604573" cy="3695700"/>
              </a:xfrm>
              <a:prstGeom prst="roundRect">
                <a:avLst>
                  <a:gd name="adj" fmla="val 4300"/>
                </a:avLst>
              </a:prstGeom>
              <a:solidFill>
                <a:schemeClr val="accent2">
                  <a:alpha val="1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wrap="square" lIns="91440" tIns="45720" rIns="91440" bIns="45720" rtlCol="false" anchor="ctr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sz="1000" b="false" i="false" u="none" strike="noStrike" spc="0" baseline="0">
                  <a:ln>
                    <a:noFill/>
                  </a:ln>
                  <a:solidFill>
                    <a:srgbClr val="2F2F2F">
                      <a:alpha val="100000"/>
                    </a:srgbClr>
                  </a:solidFill>
                  <a:effectLst/>
                </a:endParaRPr>
              </a:p>
            </p:txBody>
          </p:sp>
          <p:cxnSp>
            <p:nvCxnSpPr>
              <p:cNvPr id="359" name="直接连接符 12"/>
              <p:cNvCxnSpPr/>
              <p:nvPr/>
            </p:nvCxnSpPr>
            <p:spPr>
              <a:xfrm rot="0" flipH="false" flipV="false">
                <a:off x="6575186" y="4580303"/>
                <a:ext cx="1792937" cy="0"/>
              </a:xfrm>
              <a:prstGeom prst="line">
                <a:avLst/>
              </a:prstGeom>
              <a:ln w="6350">
                <a:solidFill>
                  <a:schemeClr val="accent2">
                    <a:lumMod val="60000"/>
                    <a:lumOff val="40000"/>
                    <a:alpha val="10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0" name="文本框 13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348204" y="2534572"/>
                <a:ext cx="2246903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封装特性应用</a:t>
                </a:r>
                <a:endParaRPr/>
              </a:p>
            </p:txBody>
          </p:sp>
          <p:grpSp>
            <p:nvGrpSpPr>
              <p:cNvPr id="361" name=""/>
              <p:cNvGrpSpPr/>
              <p:nvPr/>
            </p:nvGrpSpPr>
            <p:grpSpPr>
              <a:xfrm>
                <a:off x="7300121" y="1676261"/>
                <a:ext cx="360001" cy="360000"/>
                <a:chOff x="7300121" y="1676261"/>
                <a:chExt cx="360001" cy="360000"/>
              </a:xfrm>
            </p:grpSpPr>
            <p:sp>
              <p:nvSpPr>
                <p:cNvPr id="362" name="矩形: 圆角 23"/>
                <p:cNvSpPr/>
                <p:nvPr/>
              </p:nvSpPr>
              <p:spPr>
                <a:xfrm rot="0" flipH="false" flipV="false">
                  <a:off x="7300121" y="1676261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alpha val="100000"/>
                  </a:schemeClr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lt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047FEA">
                        <a:alpha val="100000"/>
                      </a:srgbClr>
                    </a:solidFill>
                    <a:effectLst/>
                  </a:endParaRPr>
                </a:p>
              </p:txBody>
            </p:sp>
            <p:sp>
              <p:nvSpPr>
                <p:cNvPr id="363" name="任意多边形: 形状 24"/>
                <p:cNvSpPr/>
                <p:nvPr/>
              </p:nvSpPr>
              <p:spPr>
                <a:xfrm rot="0" flipH="false" flipV="false">
                  <a:off x="7398706" y="1801668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chemeClr val="bg1">
                      <a:alpha val="100000"/>
                    </a:schemeClr>
                  </a:solidFill>
                  <a:prstDash val="solid"/>
                  <a:bevel/>
                </a:ln>
              </p:spPr>
              <p:txBody>
                <a:bodyPr rtlCol="false" anchor="ctr"/>
                <a:lstStyle/>
                <a:p>
                  <a:pPr marL="0" lvl="0" indent="0" algn="l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2F2F2F">
                        <a:alpha val="100000"/>
                      </a:srgbClr>
                    </a:solidFill>
                    <a:effectLst/>
                  </a:endParaRPr>
                </a:p>
              </p:txBody>
            </p:sp>
          </p:grpSp>
          <p:sp>
            <p:nvSpPr>
              <p:cNvPr id="364" name="Shape 301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348204" y="3134767"/>
                <a:ext cx="2246903" cy="1758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0043" tIns="46863" rIns="90043" bIns="46863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将属性设为私有，通过公共方法访问修改，保护内部数据，减少外部误修改的风险。</a:t>
                </a:r>
                <a:endParaRPr/>
              </a:p>
            </p:txBody>
          </p:sp>
        </p:grpSp>
        <p:grpSp>
          <p:nvGrpSpPr>
            <p:cNvPr id="365" name=""/>
            <p:cNvGrpSpPr/>
            <p:nvPr/>
          </p:nvGrpSpPr>
          <p:grpSpPr>
            <a:xfrm>
              <a:off x="8920677" y="1676261"/>
              <a:ext cx="2604573" cy="3881942"/>
              <a:chOff x="8920677" y="1676261"/>
              <a:chExt cx="2604573" cy="3881942"/>
            </a:xfrm>
          </p:grpSpPr>
          <p:sp>
            <p:nvSpPr>
              <p:cNvPr id="366" name="矩形: 圆角 15"/>
              <p:cNvSpPr/>
              <p:nvPr/>
            </p:nvSpPr>
            <p:spPr>
              <a:xfrm rot="0" flipH="false" flipV="false">
                <a:off x="8920677" y="1862503"/>
                <a:ext cx="2604573" cy="3695700"/>
              </a:xfrm>
              <a:prstGeom prst="roundRect">
                <a:avLst>
                  <a:gd name="adj" fmla="val 4300"/>
                </a:avLst>
              </a:prstGeom>
              <a:solidFill>
                <a:schemeClr val="accent1">
                  <a:alpha val="1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wrap="square" lIns="91440" tIns="45720" rIns="91440" bIns="45720" rtlCol="false" anchor="ctr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sz="1000" b="false" i="false" u="none" strike="noStrike" spc="0" baseline="0">
                  <a:ln>
                    <a:noFill/>
                  </a:ln>
                  <a:solidFill>
                    <a:srgbClr val="2F2F2F">
                      <a:alpha val="100000"/>
                    </a:srgbClr>
                  </a:solidFill>
                  <a:effectLst/>
                </a:endParaRPr>
              </a:p>
            </p:txBody>
          </p:sp>
          <p:cxnSp>
            <p:nvCxnSpPr>
              <p:cNvPr id="367" name="直接连接符 16"/>
              <p:cNvCxnSpPr/>
              <p:nvPr/>
            </p:nvCxnSpPr>
            <p:spPr>
              <a:xfrm rot="0" flipH="false" flipV="false">
                <a:off x="9326495" y="4580303"/>
                <a:ext cx="1792937" cy="0"/>
              </a:xfrm>
              <a:prstGeom prst="line">
                <a:avLst/>
              </a:prstGeom>
              <a:ln w="6350">
                <a:solidFill>
                  <a:schemeClr val="accent1">
                    <a:lumMod val="60000"/>
                    <a:lumOff val="40000"/>
                    <a:alpha val="100000"/>
                  </a:schemeClr>
                </a:solidFill>
                <a:prstDash val="solid"/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8" name="文本框 17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9099513" y="2534572"/>
                <a:ext cx="2246903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类方法使用</a:t>
                </a:r>
                <a:endParaRPr/>
              </a:p>
            </p:txBody>
          </p:sp>
          <p:grpSp>
            <p:nvGrpSpPr>
              <p:cNvPr id="369" name=""/>
              <p:cNvGrpSpPr/>
              <p:nvPr/>
            </p:nvGrpSpPr>
            <p:grpSpPr>
              <a:xfrm>
                <a:off x="10055664" y="1676261"/>
                <a:ext cx="360001" cy="360000"/>
                <a:chOff x="10055664" y="1676261"/>
                <a:chExt cx="360001" cy="360000"/>
              </a:xfrm>
            </p:grpSpPr>
            <p:sp>
              <p:nvSpPr>
                <p:cNvPr id="370" name="矩形: 圆角 25"/>
                <p:cNvSpPr/>
                <p:nvPr/>
              </p:nvSpPr>
              <p:spPr>
                <a:xfrm rot="0" flipH="false" flipV="false">
                  <a:off x="10055664" y="1676261"/>
                  <a:ext cx="360001" cy="36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alpha val="100000"/>
                  </a:schemeClr>
                </a:solidFill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false" anchor="ctr"/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lt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047FEA">
                        <a:alpha val="100000"/>
                      </a:srgbClr>
                    </a:solidFill>
                    <a:effectLst/>
                  </a:endParaRPr>
                </a:p>
              </p:txBody>
            </p:sp>
            <p:sp>
              <p:nvSpPr>
                <p:cNvPr id="371" name="任意多边形: 形状 26"/>
                <p:cNvSpPr/>
                <p:nvPr/>
              </p:nvSpPr>
              <p:spPr>
                <a:xfrm rot="0" flipH="false" flipV="false">
                  <a:off x="10154249" y="1801668"/>
                  <a:ext cx="162833" cy="109186"/>
                </a:xfrm>
                <a:custGeom>
                  <a:avLst/>
                  <a:gdLst>
                    <a:gd name="connsiteX0" fmla="*/ 195400 w 195399"/>
                    <a:gd name="connsiteY0" fmla="*/ 0 h 131023"/>
                    <a:gd name="connsiteX1" fmla="*/ 64376 w 195399"/>
                    <a:gd name="connsiteY1" fmla="*/ 131023 h 131023"/>
                    <a:gd name="connsiteX2" fmla="*/ 0 w 195399"/>
                    <a:gd name="connsiteY2" fmla="*/ 66647 h 131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399" h="131023">
                      <a:moveTo>
                        <a:pt x="195400" y="0"/>
                      </a:moveTo>
                      <a:lnTo>
                        <a:pt x="64376" y="131023"/>
                      </a:lnTo>
                      <a:lnTo>
                        <a:pt x="0" y="66647"/>
                      </a:lnTo>
                    </a:path>
                  </a:pathLst>
                </a:custGeom>
                <a:noFill/>
                <a:ln w="25400" cap="flat">
                  <a:solidFill>
                    <a:schemeClr val="bg1">
                      <a:alpha val="100000"/>
                    </a:schemeClr>
                  </a:solidFill>
                  <a:prstDash val="solid"/>
                  <a:bevel/>
                </a:ln>
              </p:spPr>
              <p:txBody>
                <a:bodyPr rtlCol="false" anchor="ctr"/>
                <a:lstStyle/>
                <a:p>
                  <a:pPr marL="0" lvl="0" indent="0" algn="l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false" i="false" u="none" strike="noStrike" spc="0" baseline="0">
                    <a:ln>
                      <a:noFill/>
                    </a:ln>
                    <a:solidFill>
                      <a:srgbClr val="2F2F2F">
                        <a:alpha val="100000"/>
                      </a:srgbClr>
                    </a:solidFill>
                    <a:effectLst/>
                  </a:endParaRPr>
                </a:p>
              </p:txBody>
            </p:sp>
          </p:grpSp>
          <p:sp>
            <p:nvSpPr>
              <p:cNvPr id="372" name="Shape 301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9099513" y="3134767"/>
                <a:ext cx="2246903" cy="1758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0043" tIns="46863" rIns="90043" bIns="46863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使用@classmethod装饰器定义类方法，第一个参数为类本身，可操作类属性而无需实例。</a:t>
                </a:r>
                <a:endParaRPr/>
              </a:p>
            </p:txBody>
          </p:sp>
        </p:grpSp>
      </p:grpSp>
      <p:sp>
        <p:nvSpPr>
          <p:cNvPr id="373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面向对象编程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5" name="" descr="{&quot;isTemplate&quot;:true,&quot;type&quot;:&quot;page&quot;,&quot;originSlideId&quot;:&quot;a6c6e45d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2500727"/>
            <a:ext cx="10852150" cy="3734973"/>
            <a:chOff x="666750" y="2500727"/>
            <a:chExt cx="10852150" cy="3734973"/>
          </a:xfrm>
        </p:grpSpPr>
        <p:grpSp>
          <p:nvGrpSpPr>
            <p:cNvPr id="7" name=""/>
            <p:cNvGrpSpPr/>
            <p:nvPr/>
          </p:nvGrpSpPr>
          <p:grpSpPr>
            <a:xfrm>
              <a:off x="666750" y="2500727"/>
              <a:ext cx="1755775" cy="3734973"/>
              <a:chOff x="666750" y="2486530"/>
              <a:chExt cx="1755775" cy="3734973"/>
            </a:xfrm>
          </p:grpSpPr>
          <p:grpSp>
            <p:nvGrpSpPr>
              <p:cNvPr id="8" name=""/>
              <p:cNvGrpSpPr/>
              <p:nvPr/>
            </p:nvGrpSpPr>
            <p:grpSpPr>
              <a:xfrm>
                <a:off x="522621" y="2486530"/>
                <a:ext cx="2044034" cy="1642803"/>
                <a:chOff x="2279983" y="2486530"/>
                <a:chExt cx="2044034" cy="1642803"/>
              </a:xfrm>
            </p:grpSpPr>
            <p:sp>
              <p:nvSpPr>
                <p:cNvPr id="9" name=""/>
                <p:cNvSpPr/>
                <p:nvPr/>
              </p:nvSpPr>
              <p:spPr>
                <a:xfrm rot="0" flipH="false" flipV="false">
                  <a:off x="22799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10" name=""/>
                <p:cNvGrpSpPr/>
                <p:nvPr/>
              </p:nvGrpSpPr>
              <p:grpSpPr>
                <a:xfrm>
                  <a:off x="3251324" y="3315577"/>
                  <a:ext cx="101347" cy="813756"/>
                  <a:chOff x="3251324" y="3315577"/>
                  <a:chExt cx="101347" cy="813756"/>
                </a:xfrm>
              </p:grpSpPr>
              <p:cxnSp>
                <p:nvCxnSpPr>
                  <p:cNvPr id="11" name="直线连接符 39"/>
                  <p:cNvCxnSpPr/>
                  <p:nvPr/>
                </p:nvCxnSpPr>
                <p:spPr>
                  <a:xfrm rot="16200000" flipH="false" flipV="false">
                    <a:off x="29439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" name="椭圆 40"/>
                  <p:cNvSpPr/>
                  <p:nvPr/>
                </p:nvSpPr>
                <p:spPr>
                  <a:xfrm rot="16200000" flipH="false" flipV="false">
                    <a:off x="32513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13" name="矩形 35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253003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异常捕获语句</a:t>
                </a:r>
                <a:endParaRPr/>
              </a:p>
            </p:txBody>
          </p:sp>
          <p:sp>
            <p:nvSpPr>
              <p:cNvPr id="14" name="矩形 36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4741953"/>
                <a:ext cx="1755775" cy="14795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通过try-except语句块包裹可能出错的代码，精准捕获指定类型错误，避免程序意外崩溃。</a:t>
                </a:r>
                <a:endParaRPr/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2486025" y="2500727"/>
              <a:ext cx="1755775" cy="3734973"/>
              <a:chOff x="6191250" y="2486530"/>
              <a:chExt cx="1755775" cy="3734973"/>
            </a:xfrm>
          </p:grpSpPr>
          <p:grpSp>
            <p:nvGrpSpPr>
              <p:cNvPr id="16" name=""/>
              <p:cNvGrpSpPr/>
              <p:nvPr/>
            </p:nvGrpSpPr>
            <p:grpSpPr>
              <a:xfrm>
                <a:off x="6047121" y="2486530"/>
                <a:ext cx="2044034" cy="1642803"/>
                <a:chOff x="7804483" y="2486530"/>
                <a:chExt cx="2044034" cy="1642803"/>
              </a:xfrm>
            </p:grpSpPr>
            <p:sp>
              <p:nvSpPr>
                <p:cNvPr id="17" name=""/>
                <p:cNvSpPr/>
                <p:nvPr/>
              </p:nvSpPr>
              <p:spPr>
                <a:xfrm rot="0" flipH="false" flipV="false">
                  <a:off x="78044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18" name=""/>
                <p:cNvGrpSpPr/>
                <p:nvPr/>
              </p:nvGrpSpPr>
              <p:grpSpPr>
                <a:xfrm>
                  <a:off x="8775824" y="3315577"/>
                  <a:ext cx="101347" cy="813756"/>
                  <a:chOff x="8775824" y="3315577"/>
                  <a:chExt cx="101347" cy="813756"/>
                </a:xfrm>
              </p:grpSpPr>
              <p:cxnSp>
                <p:nvCxnSpPr>
                  <p:cNvPr id="19" name="直线连接符 31"/>
                  <p:cNvCxnSpPr/>
                  <p:nvPr/>
                </p:nvCxnSpPr>
                <p:spPr>
                  <a:xfrm rot="16200000" flipH="false" flipV="false">
                    <a:off x="84684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2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椭圆 32"/>
                  <p:cNvSpPr/>
                  <p:nvPr/>
                </p:nvSpPr>
                <p:spPr>
                  <a:xfrm rot="16200000" flipH="false" flipV="false">
                    <a:off x="87758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21" name="矩形 27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191250" y="4253004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自定义异常类</a:t>
                </a:r>
                <a:endParaRPr/>
              </a:p>
            </p:txBody>
          </p:sp>
          <p:sp>
            <p:nvSpPr>
              <p:cNvPr id="22" name="矩形 28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191250" y="4741954"/>
                <a:ext cx="1755775" cy="1479549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继承Exception基类创建专属异常类，满足特定业务场景下的错误类型定义需求。</a:t>
                </a:r>
                <a:endParaRPr/>
              </a:p>
            </p:txBody>
          </p:sp>
        </p:grpSp>
        <p:grpSp>
          <p:nvGrpSpPr>
            <p:cNvPr id="23" name=""/>
            <p:cNvGrpSpPr/>
            <p:nvPr/>
          </p:nvGrpSpPr>
          <p:grpSpPr>
            <a:xfrm>
              <a:off x="4305300" y="2500727"/>
              <a:ext cx="1755775" cy="3734973"/>
              <a:chOff x="666750" y="2486530"/>
              <a:chExt cx="1755775" cy="3734973"/>
            </a:xfrm>
          </p:grpSpPr>
          <p:grpSp>
            <p:nvGrpSpPr>
              <p:cNvPr id="24" name=""/>
              <p:cNvGrpSpPr/>
              <p:nvPr/>
            </p:nvGrpSpPr>
            <p:grpSpPr>
              <a:xfrm>
                <a:off x="522621" y="2486530"/>
                <a:ext cx="2044034" cy="1642803"/>
                <a:chOff x="2279983" y="2486530"/>
                <a:chExt cx="2044034" cy="1642803"/>
              </a:xfrm>
            </p:grpSpPr>
            <p:sp>
              <p:nvSpPr>
                <p:cNvPr id="25" name=""/>
                <p:cNvSpPr/>
                <p:nvPr/>
              </p:nvSpPr>
              <p:spPr>
                <a:xfrm rot="0" flipH="false" flipV="false">
                  <a:off x="22799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26" name=""/>
                <p:cNvGrpSpPr/>
                <p:nvPr/>
              </p:nvGrpSpPr>
              <p:grpSpPr>
                <a:xfrm>
                  <a:off x="3251324" y="3315577"/>
                  <a:ext cx="101347" cy="813756"/>
                  <a:chOff x="3251324" y="3315577"/>
                  <a:chExt cx="101347" cy="813756"/>
                </a:xfrm>
              </p:grpSpPr>
              <p:cxnSp>
                <p:nvCxnSpPr>
                  <p:cNvPr id="27" name="直线连接符 39"/>
                  <p:cNvCxnSpPr/>
                  <p:nvPr/>
                </p:nvCxnSpPr>
                <p:spPr>
                  <a:xfrm rot="16200000" flipH="false" flipV="false">
                    <a:off x="29439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椭圆 40"/>
                  <p:cNvSpPr/>
                  <p:nvPr/>
                </p:nvSpPr>
                <p:spPr>
                  <a:xfrm rot="16200000" flipH="false" flipV="false">
                    <a:off x="32513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29" name="矩形 35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253003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异常抛出逻辑</a:t>
                </a:r>
                <a:endParaRPr/>
              </a:p>
            </p:txBody>
          </p:sp>
          <p:sp>
            <p:nvSpPr>
              <p:cNvPr id="30" name="矩形 36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4741953"/>
                <a:ext cx="1755775" cy="14795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使用raise关键字主动抛出预设异常，在逻辑校验失败时及时中断流程并提示。</a:t>
                </a:r>
                <a:endParaRPr/>
              </a:p>
            </p:txBody>
          </p:sp>
        </p:grpSp>
        <p:grpSp>
          <p:nvGrpSpPr>
            <p:cNvPr id="31" name=""/>
            <p:cNvGrpSpPr/>
            <p:nvPr/>
          </p:nvGrpSpPr>
          <p:grpSpPr>
            <a:xfrm>
              <a:off x="6124575" y="2500727"/>
              <a:ext cx="1755775" cy="3734973"/>
              <a:chOff x="6191250" y="2486530"/>
              <a:chExt cx="1755775" cy="3734973"/>
            </a:xfrm>
          </p:grpSpPr>
          <p:grpSp>
            <p:nvGrpSpPr>
              <p:cNvPr id="32" name=""/>
              <p:cNvGrpSpPr/>
              <p:nvPr/>
            </p:nvGrpSpPr>
            <p:grpSpPr>
              <a:xfrm>
                <a:off x="6047121" y="2486530"/>
                <a:ext cx="2044034" cy="1642803"/>
                <a:chOff x="7804483" y="2486530"/>
                <a:chExt cx="2044034" cy="1642803"/>
              </a:xfrm>
            </p:grpSpPr>
            <p:sp>
              <p:nvSpPr>
                <p:cNvPr id="33" name=""/>
                <p:cNvSpPr/>
                <p:nvPr/>
              </p:nvSpPr>
              <p:spPr>
                <a:xfrm rot="0" flipH="false" flipV="false">
                  <a:off x="78044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34" name=""/>
                <p:cNvGrpSpPr/>
                <p:nvPr/>
              </p:nvGrpSpPr>
              <p:grpSpPr>
                <a:xfrm>
                  <a:off x="8775824" y="3315577"/>
                  <a:ext cx="101347" cy="813756"/>
                  <a:chOff x="8775824" y="3315577"/>
                  <a:chExt cx="101347" cy="813756"/>
                </a:xfrm>
              </p:grpSpPr>
              <p:cxnSp>
                <p:nvCxnSpPr>
                  <p:cNvPr id="35" name="直线连接符 31"/>
                  <p:cNvCxnSpPr/>
                  <p:nvPr/>
                </p:nvCxnSpPr>
                <p:spPr>
                  <a:xfrm rot="16200000" flipH="false" flipV="false">
                    <a:off x="84684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2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椭圆 32"/>
                  <p:cNvSpPr/>
                  <p:nvPr/>
                </p:nvSpPr>
                <p:spPr>
                  <a:xfrm rot="16200000" flipH="false" flipV="false">
                    <a:off x="87758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37" name="矩形 27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191250" y="4253004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资源管理方式</a:t>
                </a:r>
                <a:endParaRPr/>
              </a:p>
            </p:txBody>
          </p:sp>
          <p:sp>
            <p:nvSpPr>
              <p:cNvPr id="38" name="矩形 28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191250" y="4741954"/>
                <a:ext cx="1755775" cy="1479549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借助with语句自动管理文件、网络连接等资源，确保使用后自动释放避免泄漏。</a:t>
                </a:r>
                <a:endParaRPr/>
              </a:p>
            </p:txBody>
          </p:sp>
        </p:grpSp>
        <p:grpSp>
          <p:nvGrpSpPr>
            <p:cNvPr id="39" name=""/>
            <p:cNvGrpSpPr/>
            <p:nvPr/>
          </p:nvGrpSpPr>
          <p:grpSpPr>
            <a:xfrm>
              <a:off x="7943850" y="2500727"/>
              <a:ext cx="1755775" cy="3734973"/>
              <a:chOff x="666750" y="2486530"/>
              <a:chExt cx="1755775" cy="3734973"/>
            </a:xfrm>
          </p:grpSpPr>
          <p:grpSp>
            <p:nvGrpSpPr>
              <p:cNvPr id="40" name=""/>
              <p:cNvGrpSpPr/>
              <p:nvPr/>
            </p:nvGrpSpPr>
            <p:grpSpPr>
              <a:xfrm>
                <a:off x="522621" y="2486530"/>
                <a:ext cx="2044034" cy="1642803"/>
                <a:chOff x="2279983" y="2486530"/>
                <a:chExt cx="2044034" cy="1642803"/>
              </a:xfrm>
            </p:grpSpPr>
            <p:sp>
              <p:nvSpPr>
                <p:cNvPr id="41" name=""/>
                <p:cNvSpPr/>
                <p:nvPr/>
              </p:nvSpPr>
              <p:spPr>
                <a:xfrm rot="0" flipH="false" flipV="false">
                  <a:off x="22799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42" name=""/>
                <p:cNvGrpSpPr/>
                <p:nvPr/>
              </p:nvGrpSpPr>
              <p:grpSpPr>
                <a:xfrm>
                  <a:off x="3251324" y="3315577"/>
                  <a:ext cx="101347" cy="813756"/>
                  <a:chOff x="3251324" y="3315577"/>
                  <a:chExt cx="101347" cy="813756"/>
                </a:xfrm>
              </p:grpSpPr>
              <p:cxnSp>
                <p:nvCxnSpPr>
                  <p:cNvPr id="43" name="直线连接符 39"/>
                  <p:cNvCxnSpPr/>
                  <p:nvPr/>
                </p:nvCxnSpPr>
                <p:spPr>
                  <a:xfrm rot="16200000" flipH="false" flipV="false">
                    <a:off x="29439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椭圆 40"/>
                  <p:cNvSpPr/>
                  <p:nvPr/>
                </p:nvSpPr>
                <p:spPr>
                  <a:xfrm rot="16200000" flipH="false" flipV="false">
                    <a:off x="32513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45" name="矩形 35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253003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调试技巧掌握</a:t>
                </a:r>
                <a:endParaRPr/>
              </a:p>
            </p:txBody>
          </p:sp>
          <p:sp>
            <p:nvSpPr>
              <p:cNvPr id="46" name="矩形 36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66750" y="4741953"/>
                <a:ext cx="1755775" cy="14795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结合断点调试工具逐步执行代码，快速定位异常触发的具体代码行与变量状态。</a:t>
                </a:r>
                <a:endParaRPr/>
              </a:p>
            </p:txBody>
          </p:sp>
        </p:grpSp>
        <p:grpSp>
          <p:nvGrpSpPr>
            <p:cNvPr id="47" name=""/>
            <p:cNvGrpSpPr/>
            <p:nvPr/>
          </p:nvGrpSpPr>
          <p:grpSpPr>
            <a:xfrm>
              <a:off x="9763125" y="2500727"/>
              <a:ext cx="1755775" cy="3734973"/>
              <a:chOff x="6191250" y="2486530"/>
              <a:chExt cx="1755775" cy="3734973"/>
            </a:xfrm>
          </p:grpSpPr>
          <p:grpSp>
            <p:nvGrpSpPr>
              <p:cNvPr id="48" name=""/>
              <p:cNvGrpSpPr/>
              <p:nvPr/>
            </p:nvGrpSpPr>
            <p:grpSpPr>
              <a:xfrm>
                <a:off x="6047121" y="2486530"/>
                <a:ext cx="2044034" cy="1642803"/>
                <a:chOff x="7804483" y="2486530"/>
                <a:chExt cx="2044034" cy="1642803"/>
              </a:xfrm>
            </p:grpSpPr>
            <p:sp>
              <p:nvSpPr>
                <p:cNvPr id="49" name=""/>
                <p:cNvSpPr/>
                <p:nvPr/>
              </p:nvSpPr>
              <p:spPr>
                <a:xfrm rot="0" flipH="false" flipV="false">
                  <a:off x="7804483" y="2486530"/>
                  <a:ext cx="2044034" cy="829047"/>
                </a:xfrm>
                <a:custGeom>
                  <a:avLst/>
                  <a:gdLst>
                    <a:gd name="connsiteX0" fmla="*/ 888193 w 1776384"/>
                    <a:gd name="connsiteY0" fmla="*/ 297142 h 720491"/>
                    <a:gd name="connsiteX1" fmla="*/ 825089 w 1776384"/>
                    <a:gd name="connsiteY1" fmla="*/ 360246 h 720491"/>
                    <a:gd name="connsiteX2" fmla="*/ 888193 w 1776384"/>
                    <a:gd name="connsiteY2" fmla="*/ 423350 h 720491"/>
                    <a:gd name="connsiteX3" fmla="*/ 951297 w 1776384"/>
                    <a:gd name="connsiteY3" fmla="*/ 360246 h 720491"/>
                    <a:gd name="connsiteX4" fmla="*/ 888193 w 1776384"/>
                    <a:gd name="connsiteY4" fmla="*/ 297142 h 720491"/>
                    <a:gd name="connsiteX5" fmla="*/ 0 w 1776384"/>
                    <a:gd name="connsiteY5" fmla="*/ 0 h 720491"/>
                    <a:gd name="connsiteX6" fmla="*/ 1453405 w 1776384"/>
                    <a:gd name="connsiteY6" fmla="*/ 0 h 720491"/>
                    <a:gd name="connsiteX7" fmla="*/ 1776384 w 1776384"/>
                    <a:gd name="connsiteY7" fmla="*/ 360246 h 720491"/>
                    <a:gd name="connsiteX8" fmla="*/ 1453405 w 1776384"/>
                    <a:gd name="connsiteY8" fmla="*/ 720491 h 720491"/>
                    <a:gd name="connsiteX9" fmla="*/ 0 w 1776384"/>
                    <a:gd name="connsiteY9" fmla="*/ 720491 h 720491"/>
                    <a:gd name="connsiteX10" fmla="*/ 322979 w 1776384"/>
                    <a:gd name="connsiteY10" fmla="*/ 372668 h 720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76384" h="720491">
                      <a:moveTo>
                        <a:pt x="888193" y="297142"/>
                      </a:moveTo>
                      <a:cubicBezTo>
                        <a:pt x="853342" y="297142"/>
                        <a:pt x="825089" y="325395"/>
                        <a:pt x="825089" y="360246"/>
                      </a:cubicBezTo>
                      <a:cubicBezTo>
                        <a:pt x="825089" y="395097"/>
                        <a:pt x="853342" y="423350"/>
                        <a:pt x="888193" y="423350"/>
                      </a:cubicBezTo>
                      <a:cubicBezTo>
                        <a:pt x="923044" y="423350"/>
                        <a:pt x="951297" y="395097"/>
                        <a:pt x="951297" y="360246"/>
                      </a:cubicBezTo>
                      <a:cubicBezTo>
                        <a:pt x="951297" y="325395"/>
                        <a:pt x="923044" y="297142"/>
                        <a:pt x="888193" y="297142"/>
                      </a:cubicBezTo>
                      <a:close/>
                      <a:moveTo>
                        <a:pt x="0" y="0"/>
                      </a:moveTo>
                      <a:lnTo>
                        <a:pt x="1453405" y="0"/>
                      </a:lnTo>
                      <a:lnTo>
                        <a:pt x="1776384" y="360246"/>
                      </a:lnTo>
                      <a:lnTo>
                        <a:pt x="1453405" y="720491"/>
                      </a:lnTo>
                      <a:lnTo>
                        <a:pt x="0" y="720491"/>
                      </a:lnTo>
                      <a:lnTo>
                        <a:pt x="322979" y="37266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effectLst/>
              </p:spPr>
              <p:txBody>
                <a:bodyPr wrap="none" lIns="0" tIns="0" rIns="0" bIns="0" rtlCol="false" anchor="ctr" anchorCtr="false">
                  <a:noAutofit/>
                </a:bodyPr>
                <a:lstStyle/>
                <a:p>
                  <a:pPr marL="0" lvl="0" indent="0" algn="ctr" defTabSz="914400">
                    <a:lnSpc>
                      <a:spcPct val="100000"/>
                    </a:lnSpc>
                    <a:buClrTx/>
                    <a:buSzTx/>
                    <a:buFontTx/>
                    <a:buNone/>
                    <a:defRPr sz="1800">
                      <a:solidFill>
                        <a:schemeClr val="tx1">
                          <a:alpha val="100000"/>
                        </a:schemeClr>
                      </a:solidFill>
                    </a:defRPr>
                  </a:pPr>
                  <a:endParaRPr lang="zh-CN" sz="1800" b="true" i="false" u="none" strike="noStrike" spc="0" baseline="0">
                    <a:ln>
                      <a:noFill/>
                    </a:ln>
                    <a:solidFill>
                      <a:srgbClr val="FFFFFF">
                        <a:alpha val="100000"/>
                      </a:srgbClr>
                    </a:solidFill>
                    <a:effectLst/>
                    <a:sym typeface="Arial"/>
                  </a:endParaRPr>
                </a:p>
              </p:txBody>
            </p:sp>
            <p:grpSp>
              <p:nvGrpSpPr>
                <p:cNvPr id="50" name=""/>
                <p:cNvGrpSpPr/>
                <p:nvPr/>
              </p:nvGrpSpPr>
              <p:grpSpPr>
                <a:xfrm>
                  <a:off x="8775824" y="3315577"/>
                  <a:ext cx="101347" cy="813756"/>
                  <a:chOff x="8775824" y="3315577"/>
                  <a:chExt cx="101347" cy="813756"/>
                </a:xfrm>
              </p:grpSpPr>
              <p:cxnSp>
                <p:nvCxnSpPr>
                  <p:cNvPr id="51" name="直线连接符 31"/>
                  <p:cNvCxnSpPr/>
                  <p:nvPr/>
                </p:nvCxnSpPr>
                <p:spPr>
                  <a:xfrm rot="16200000" flipH="false" flipV="false">
                    <a:off x="8468468" y="3673607"/>
                    <a:ext cx="716061" cy="0"/>
                  </a:xfrm>
                  <a:prstGeom prst="line">
                    <a:avLst/>
                  </a:prstGeom>
                  <a:ln w="15875">
                    <a:solidFill>
                      <a:schemeClr val="accent2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" name="椭圆 32"/>
                  <p:cNvSpPr/>
                  <p:nvPr/>
                </p:nvSpPr>
                <p:spPr>
                  <a:xfrm rot="16200000" flipH="false" flipV="false">
                    <a:off x="8775824" y="4027985"/>
                    <a:ext cx="101348" cy="101347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false" anchor="ctr"/>
                  <a:lstStyle/>
                  <a:p>
                    <a:pPr marL="0" lvl="0" indent="0" algn="ctr" defTabSz="914400">
                      <a:lnSpc>
                        <a:spcPct val="100000"/>
                      </a:lnSpc>
                      <a:buClrTx/>
                      <a:buSzTx/>
                      <a:buFontTx/>
                      <a:buNone/>
                      <a:defRPr sz="1800">
                        <a:solidFill>
                          <a:schemeClr val="lt1">
                            <a:alpha val="100000"/>
                          </a:schemeClr>
                        </a:solidFill>
                      </a:defRPr>
                    </a:pPr>
                    <a:endParaRPr lang="zh-CN" sz="1800" b="false" i="false" u="none" strike="noStrike" spc="0" baseline="0">
                      <a:ln>
                        <a:noFill/>
                      </a:ln>
                      <a:solidFill>
                        <a:srgbClr val="FFFFFF">
                          <a:alpha val="100000"/>
                        </a:srgbClr>
                      </a:solidFill>
                      <a:effectLst/>
                      <a:sym typeface="Arial"/>
                    </a:endParaRPr>
                  </a:p>
                </p:txBody>
              </p:sp>
            </p:grpSp>
          </p:grpSp>
          <p:sp>
            <p:nvSpPr>
              <p:cNvPr id="53" name="矩形 27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191250" y="4253004"/>
                <a:ext cx="1755775" cy="4889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lvl="0" indent="0" algn="ctr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日志记录方法</a:t>
                </a:r>
                <a:endParaRPr/>
              </a:p>
            </p:txBody>
          </p:sp>
          <p:sp>
            <p:nvSpPr>
              <p:cNvPr id="54" name="矩形 28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191250" y="4741954"/>
                <a:ext cx="1755775" cy="1479549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t" anchorCtr="false">
                <a:noAutofit/>
              </a:bodyPr>
              <a:lstStyle/>
              <a:p>
                <a:pPr marL="0" lvl="0" indent="0" algn="l" defTabSz="91440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lt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/>
                    </a:solidFill>
                  </a:rPr>
                  <a:t>通过logging模块记录异常详细信息，包括时间、错误类型与堆栈，便于后续排查。</a:t>
                </a:r>
                <a:endParaRPr/>
              </a:p>
            </p:txBody>
          </p:sp>
        </p:grpSp>
      </p:grpSp>
      <p:sp>
        <p:nvSpPr>
          <p:cNvPr id="55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异常处理机制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56" name="" descr="{&quot;isTemplate&quot;:true,&quot;type&quot;:&quot;session&quot;,&quot;originSlideId&quot;:&quot;gwll2gdu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4" descr="{&quot;isTemplate&quot;:true,&quot;type&quot;:&quot;serialNumber&quot;}"/>
          <p:cNvSpPr txBox="true"/>
          <p:nvPr/>
        </p:nvSpPr>
        <p:spPr>
          <a:xfrm rot="0" flipH="false" flipV="false">
            <a:off x="3270458" y="3009487"/>
            <a:ext cx="1027845" cy="1055289"/>
          </a:xfrm>
          <a:prstGeom prst="rect"/>
          <a:noFill/>
        </p:spPr>
        <p:txBody>
          <a:bodyPr wrap="none" anchor="ctr">
            <a:spAutoFit/>
          </a:bodyPr>
          <a:p>
            <a:pPr algn="ctr" defTabSz="914400">
              <a:lnSpc>
                <a:spcPct val="130000"/>
              </a:lnSpc>
              <a:buClrTx/>
              <a:buSzTx/>
              <a:buFontTx/>
            </a:pPr>
            <a:r>
              <a:rPr lang="en-US" sz="8000" b="true" kern="1200" spc="0" baseline="12000">
                <a:solidFill>
                  <a:schemeClr val="bg1"/>
                </a:solidFill>
                <a:effectLst>
                  <a:innerShdw blurRad="63500" dist="50800" dir="18900000">
                    <a:srgbClr val="000000">
                      <a:alpha val="30000"/>
                    </a:srgbClr>
                  </a:innerShdw>
                </a:effectLst>
                <a:latin typeface="微软雅黑"/>
                <a:ea typeface="微软雅黑"/>
              </a:rPr>
              <a:t>03</a:t>
            </a:r>
            <a:endParaRPr lang="zh-CN" sz="8000" b="true" kern="1200" spc="0" baseline="12000">
              <a:solidFill>
                <a:schemeClr val="bg1"/>
              </a:solidFill>
              <a:effectLst>
                <a:innerShdw blurRad="63500" dist="50800" dir="18900000">
                  <a:srgbClr val="000000">
                    <a:alpha val="30000"/>
                  </a:srgbClr>
                </a:innerShdw>
              </a:effectLst>
              <a:latin typeface="微软雅黑"/>
              <a:ea typeface="微软雅黑"/>
            </a:endParaRPr>
          </a:p>
        </p:txBody>
      </p:sp>
      <p:sp>
        <p:nvSpPr>
          <p:cNvPr id="58" name="文本框 6" descr="{&quot;isTemplate&quot;:true,&quot;type&quot;:&quot;title&quot;,&quot;canOmit&quot;:false}"/>
          <p:cNvSpPr txBox="true"/>
          <p:nvPr/>
        </p:nvSpPr>
        <p:spPr>
          <a:xfrm rot="0" flipH="false" flipV="false">
            <a:off x="5830254" y="2264722"/>
            <a:ext cx="6178513" cy="2544819"/>
          </a:xfrm>
          <a:prstGeom prst="rect"/>
          <a:noFill/>
        </p:spPr>
        <p:txBody>
          <a:bodyPr wrap="square" anchor="ctr">
            <a:noAutofit/>
          </a:bodyPr>
          <a:lstStyle/>
          <a:p>
            <a:pPr marL="0" indent="0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sz="4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常用库与工具应用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 descr="{&quot;isTemplate&quot;:true,&quot;type&quot;:&quot;page&quot;,&quot;originSlideId&quot;:&quot;6994bab7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"/>
          <p:cNvCxnSpPr/>
          <p:nvPr/>
        </p:nvCxnSpPr>
        <p:spPr>
          <a:xfrm rot="0" flipH="false" flipV="false">
            <a:off x="6718306" y="1292567"/>
            <a:ext cx="0" cy="4926445"/>
          </a:xfrm>
          <a:prstGeom prst="line">
            <a:avLst/>
          </a:prstGeom>
          <a:ln w="31750" cap="sq">
            <a:solidFill>
              <a:schemeClr val="accent1">
                <a:alpha val="20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 rot="0" flipH="false" flipV="false">
            <a:off x="6634606" y="1412049"/>
            <a:ext cx="4420744" cy="4643503"/>
            <a:chOff x="7098156" y="1248588"/>
            <a:chExt cx="4420744" cy="4643503"/>
          </a:xfrm>
        </p:grpSpPr>
        <p:grpSp>
          <p:nvGrpSpPr>
            <p:cNvPr id="62" name=""/>
            <p:cNvGrpSpPr/>
            <p:nvPr/>
          </p:nvGrpSpPr>
          <p:grpSpPr>
            <a:xfrm rot="0" flipH="false" flipV="false">
              <a:off x="7104505" y="1248588"/>
              <a:ext cx="4414395" cy="1416050"/>
              <a:chOff x="7098206" y="1309227"/>
              <a:chExt cx="4414395" cy="1416050"/>
            </a:xfrm>
          </p:grpSpPr>
          <p:sp>
            <p:nvSpPr>
              <p:cNvPr id="63" name="椭圆 5"/>
              <p:cNvSpPr>
                <a:spLocks noChangeAspect="true"/>
              </p:cNvSpPr>
              <p:nvPr/>
            </p:nvSpPr>
            <p:spPr>
              <a:xfrm>
                <a:off x="7098206" y="144363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2800"/>
              </a:p>
            </p:txBody>
          </p:sp>
          <p:sp>
            <p:nvSpPr>
              <p:cNvPr id="64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7387465" y="1309227"/>
                <a:ext cx="4125136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/>
                  <a:t>NumPy数组操作</a:t>
                </a:r>
                <a:endParaRPr/>
              </a:p>
            </p:txBody>
          </p:sp>
          <p:sp>
            <p:nvSpPr>
              <p:cNvPr id="65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7387465" y="1798177"/>
                <a:ext cx="4125135" cy="9271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 anchor="t">
                <a:no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>
                        <a:alpha val="100000"/>
                      </a:schemeClr>
                    </a:solidFill>
                  </a:rPr>
                  <a:t>NumPy支持创建多维数组，提供reshape、切片等基础操作，可高效处理大规模数值运算，搭配广播机制简化不同维度数组间的计算流程。</a:t>
                </a:r>
                <a:endParaRPr/>
              </a:p>
            </p:txBody>
          </p:sp>
        </p:grpSp>
        <p:grpSp>
          <p:nvGrpSpPr>
            <p:cNvPr id="66" name=""/>
            <p:cNvGrpSpPr/>
            <p:nvPr/>
          </p:nvGrpSpPr>
          <p:grpSpPr>
            <a:xfrm rot="0" flipH="false" flipV="false">
              <a:off x="7098156" y="2862314"/>
              <a:ext cx="4414394" cy="1416050"/>
              <a:chOff x="7098206" y="3209938"/>
              <a:chExt cx="4414394" cy="1416050"/>
            </a:xfrm>
          </p:grpSpPr>
          <p:sp>
            <p:nvSpPr>
              <p:cNvPr id="67" name="椭圆 6"/>
              <p:cNvSpPr>
                <a:spLocks noChangeAspect="true"/>
              </p:cNvSpPr>
              <p:nvPr/>
            </p:nvSpPr>
            <p:spPr>
              <a:xfrm>
                <a:off x="7098206" y="3341462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2800"/>
              </a:p>
            </p:txBody>
          </p:sp>
          <p:sp>
            <p:nvSpPr>
              <p:cNvPr id="68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7387464" y="3209938"/>
                <a:ext cx="4125136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/>
                  <a:t>Pandas数据清洗</a:t>
                </a:r>
                <a:endParaRPr/>
              </a:p>
            </p:txBody>
          </p:sp>
          <p:sp>
            <p:nvSpPr>
              <p:cNvPr id="69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7387464" y="3698888"/>
                <a:ext cx="4125135" cy="9271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 anchor="t">
                <a:no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>
                        <a:alpha val="100000"/>
                      </a:schemeClr>
                    </a:solidFill>
                  </a:rPr>
                  <a:t>Pandas可读取CSV、Excel等格式数据，通过dropna、fillna等方法处理缺失值，还能快速完成重复值删除与异常值筛选。</a:t>
                </a:r>
                <a:endParaRPr/>
              </a:p>
            </p:txBody>
          </p:sp>
        </p:grpSp>
        <p:grpSp>
          <p:nvGrpSpPr>
            <p:cNvPr id="70" name=""/>
            <p:cNvGrpSpPr/>
            <p:nvPr/>
          </p:nvGrpSpPr>
          <p:grpSpPr>
            <a:xfrm rot="0" flipH="false" flipV="false">
              <a:off x="7098156" y="4476041"/>
              <a:ext cx="4414394" cy="1416050"/>
              <a:chOff x="7098206" y="5110649"/>
              <a:chExt cx="4414394" cy="1416050"/>
            </a:xfrm>
          </p:grpSpPr>
          <p:sp>
            <p:nvSpPr>
              <p:cNvPr id="71" name="椭圆 9"/>
              <p:cNvSpPr>
                <a:spLocks noChangeAspect="true"/>
              </p:cNvSpPr>
              <p:nvPr/>
            </p:nvSpPr>
            <p:spPr>
              <a:xfrm>
                <a:off x="7098206" y="5239284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sz="2800"/>
              </a:p>
            </p:txBody>
          </p:sp>
          <p:sp>
            <p:nvSpPr>
              <p:cNvPr id="72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7387464" y="5110649"/>
                <a:ext cx="4125136" cy="488950"/>
              </a:xfrm>
              <a:prstGeom prst="rect">
                <a:avLst/>
              </a:prstGeom>
              <a:noFill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/>
                  <a:t>Matplotlib绘图</a:t>
                </a:r>
                <a:endParaRPr/>
              </a:p>
            </p:txBody>
          </p:sp>
          <p:sp>
            <p:nvSpPr>
              <p:cNvPr id="73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7387464" y="5599599"/>
                <a:ext cx="4125135" cy="92710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 anchor="t">
                <a:no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200" b="false">
                    <a:solidFill>
                      <a:schemeClr val="tx1">
                        <a:alpha val="100000"/>
                      </a:schemeClr>
                    </a:solidFill>
                  </a:rPr>
                  <a:t>Matplotlib可绘制折线图、柱状图、散点图等常见图表，支持自定义坐标轴标签、图例与颜色，直观呈现数据分布与变化趋势。</a:t>
                </a:r>
                <a:endParaRPr/>
              </a:p>
            </p:txBody>
          </p:sp>
        </p:grpSp>
      </p:grpSp>
      <p:pic>
        <p:nvPicPr>
          <p:cNvPr id="74" name="Picture 2" descr="{&quot;isTemplate&quot;:true,&quot;type&quot;:&quot;image&quot;}"/>
          <p:cNvPicPr>
            <a:picLocks noChangeAspect="true"/>
          </p:cNvPicPr>
          <p:nvPr/>
        </p:nvPicPr>
        <p:blipFill>
          <a:blip r:embed="rId1"/>
          <a:srcRect l="0" t="30000" r="390" b="10234"/>
          <a:stretch>
            <a:fillRect/>
          </a:stretch>
        </p:blipFill>
        <p:spPr>
          <a:xfrm rot="0" flipH="false" flipV="false">
            <a:off x="1131816" y="1647484"/>
            <a:ext cx="4492828" cy="4492828"/>
          </a:xfrm>
          <a:prstGeom prst="roundRect">
            <a:avLst>
              <a:gd name="adj" fmla="val 6169"/>
            </a:avLst>
          </a:prstGeom>
        </p:spPr>
      </p:pic>
      <p:sp>
        <p:nvSpPr>
          <p:cNvPr id="75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数据处理库使用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76" name="" descr="{&quot;isTemplate&quot;:true,&quot;type&quot;:&quot;page&quot;,&quot;originSlideId&quot;:&quot;bc67d5d1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"/>
          <p:cNvGrpSpPr/>
          <p:nvPr/>
        </p:nvGrpSpPr>
        <p:grpSpPr>
          <a:xfrm>
            <a:off x="4293053" y="1936976"/>
            <a:ext cx="3599544" cy="3593649"/>
            <a:chOff x="4293052" y="1891777"/>
            <a:chExt cx="3599544" cy="3593649"/>
          </a:xfrm>
        </p:grpSpPr>
        <p:sp>
          <p:nvSpPr>
            <p:cNvPr id="78" name="空心弧 8"/>
            <p:cNvSpPr/>
            <p:nvPr/>
          </p:nvSpPr>
          <p:spPr>
            <a:xfrm rot="5400000" flipH="false" flipV="false">
              <a:off x="4325997" y="1892003"/>
              <a:ext cx="3566826" cy="3566373"/>
            </a:xfrm>
            <a:prstGeom prst="blockArc">
              <a:avLst>
                <a:gd name="adj1" fmla="val 10799606"/>
                <a:gd name="adj2" fmla="val 16183793"/>
                <a:gd name="adj3" fmla="val 23616"/>
              </a:avLst>
            </a:prstGeom>
            <a:solidFill>
              <a:schemeClr val="accent2"/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>
                <a:solidFill>
                  <a:schemeClr val="tx1">
                    <a:alpha val="100000"/>
                  </a:schemeClr>
                </a:solidFill>
              </a:endParaRPr>
            </a:p>
          </p:txBody>
        </p:sp>
        <p:sp>
          <p:nvSpPr>
            <p:cNvPr id="79" name="空心弧 9"/>
            <p:cNvSpPr/>
            <p:nvPr/>
          </p:nvSpPr>
          <p:spPr>
            <a:xfrm rot="0" flipH="false" flipV="false">
              <a:off x="4293053" y="1902294"/>
              <a:ext cx="3566373" cy="3566826"/>
            </a:xfrm>
            <a:prstGeom prst="blockArc">
              <a:avLst>
                <a:gd name="adj1" fmla="val 10812198"/>
                <a:gd name="adj2" fmla="val 16183793"/>
                <a:gd name="adj3" fmla="val 23616"/>
              </a:avLst>
            </a:prstGeom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>
                <a:solidFill>
                  <a:schemeClr val="tx1">
                    <a:alpha val="100000"/>
                  </a:schemeClr>
                </a:solidFill>
              </a:endParaRPr>
            </a:p>
          </p:txBody>
        </p:sp>
        <p:sp>
          <p:nvSpPr>
            <p:cNvPr id="80" name="空心弧 10"/>
            <p:cNvSpPr/>
            <p:nvPr/>
          </p:nvSpPr>
          <p:spPr>
            <a:xfrm rot="10800000" flipH="false" flipV="false">
              <a:off x="4326222" y="1918599"/>
              <a:ext cx="3566373" cy="3566826"/>
            </a:xfrm>
            <a:prstGeom prst="blockArc">
              <a:avLst>
                <a:gd name="adj1" fmla="val 10800000"/>
                <a:gd name="adj2" fmla="val 16183793"/>
                <a:gd name="adj3" fmla="val 23616"/>
              </a:avLst>
            </a:prstGeom>
            <a:solidFill>
              <a:schemeClr val="accent1">
                <a:alpha val="100000"/>
              </a:schemeClr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>
                <a:solidFill>
                  <a:schemeClr val="tx1">
                    <a:alpha val="100000"/>
                  </a:schemeClr>
                </a:solidFill>
              </a:endParaRPr>
            </a:p>
          </p:txBody>
        </p:sp>
        <p:sp>
          <p:nvSpPr>
            <p:cNvPr id="81" name="" descr="{&quot;type&quot;:&quot;serialNumber&quot;,&quot;isTemplate&quot;:true,&quot;__version&quot;:2}"/>
            <p:cNvSpPr txBox="true"/>
            <p:nvPr/>
          </p:nvSpPr>
          <p:spPr>
            <a:xfrm rot="0" flipH="false" flipV="false">
              <a:off x="4861342" y="2341893"/>
              <a:ext cx="5778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 algn="r"/>
              <a:r>
                <a:rPr lang="en-US" sz="2800">
                  <a:solidFill>
                    <a:schemeClr val="bg1"/>
                  </a:solidFill>
                </a:rPr>
                <a:t>01</a:t>
              </a:r>
              <a:endParaRPr/>
            </a:p>
          </p:txBody>
        </p:sp>
        <p:sp>
          <p:nvSpPr>
            <p:cNvPr id="82" name="空心弧 11"/>
            <p:cNvSpPr/>
            <p:nvPr/>
          </p:nvSpPr>
          <p:spPr>
            <a:xfrm rot="16200000" flipH="false" flipV="false">
              <a:off x="4292826" y="1918826"/>
              <a:ext cx="3566826" cy="3566373"/>
            </a:xfrm>
            <a:prstGeom prst="blockArc">
              <a:avLst>
                <a:gd name="adj1" fmla="val 10794421"/>
                <a:gd name="adj2" fmla="val 16183793"/>
                <a:gd name="adj3" fmla="val 23616"/>
              </a:avLst>
            </a:prstGeom>
            <a:solidFill>
              <a:schemeClr val="accent2">
                <a:alpha val="100000"/>
              </a:schemeClr>
            </a:solidFill>
            <a:ln cap="rnd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>
                <a:solidFill>
                  <a:schemeClr val="tx1">
                    <a:alpha val="100000"/>
                  </a:schemeClr>
                </a:solidFill>
              </a:endParaRPr>
            </a:p>
          </p:txBody>
        </p:sp>
        <p:sp>
          <p:nvSpPr>
            <p:cNvPr id="83" name="" descr="{&quot;type&quot;:&quot;serialNumber&quot;,&quot;isTemplate&quot;:true,&quot;__version&quot;:2}"/>
            <p:cNvSpPr txBox="true"/>
            <p:nvPr/>
          </p:nvSpPr>
          <p:spPr>
            <a:xfrm rot="0" flipH="false" flipV="false">
              <a:off x="4861342" y="4407857"/>
              <a:ext cx="5778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 algn="r"/>
              <a:r>
                <a:rPr lang="en-US" sz="2800">
                  <a:solidFill>
                    <a:schemeClr val="bg1"/>
                  </a:solidFill>
                </a:rPr>
                <a:t>03</a:t>
              </a:r>
              <a:endParaRPr/>
            </a:p>
          </p:txBody>
        </p:sp>
        <p:sp>
          <p:nvSpPr>
            <p:cNvPr id="84" name="" descr="{&quot;type&quot;:&quot;serialNumber&quot;,&quot;isTemplate&quot;:true,&quot;__version&quot;:2}"/>
            <p:cNvSpPr txBox="true"/>
            <p:nvPr/>
          </p:nvSpPr>
          <p:spPr>
            <a:xfrm rot="0" flipH="false" flipV="false">
              <a:off x="6760318" y="2439778"/>
              <a:ext cx="5778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</a:rPr>
                <a:t>02</a:t>
              </a:r>
              <a:endParaRPr/>
            </a:p>
          </p:txBody>
        </p:sp>
        <p:sp>
          <p:nvSpPr>
            <p:cNvPr id="85" name="" descr="{&quot;type&quot;:&quot;serialNumber&quot;,&quot;isTemplate&quot;:true,&quot;__version&quot;:2}"/>
            <p:cNvSpPr txBox="true"/>
            <p:nvPr/>
          </p:nvSpPr>
          <p:spPr>
            <a:xfrm rot="0" flipH="false" flipV="false">
              <a:off x="6760318" y="4407857"/>
              <a:ext cx="5778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 algn="ctr"/>
              <a:r>
                <a:rPr lang="en-US" sz="2800">
                  <a:solidFill>
                    <a:schemeClr val="bg1"/>
                  </a:solidFill>
                </a:rPr>
                <a:t>04</a:t>
              </a:r>
              <a:endParaRPr/>
            </a:p>
          </p:txBody>
        </p:sp>
      </p:grpSp>
      <p:grpSp>
        <p:nvGrpSpPr>
          <p:cNvPr id="86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749021"/>
            <a:ext cx="10858500" cy="4486679"/>
            <a:chOff x="666750" y="1749021"/>
            <a:chExt cx="10858500" cy="4486679"/>
          </a:xfrm>
        </p:grpSpPr>
        <p:grpSp>
          <p:nvGrpSpPr>
            <p:cNvPr id="87" name=""/>
            <p:cNvGrpSpPr/>
            <p:nvPr/>
          </p:nvGrpSpPr>
          <p:grpSpPr>
            <a:xfrm>
              <a:off x="666750" y="1749025"/>
              <a:ext cx="3240024" cy="1984775"/>
              <a:chOff x="666750" y="1749025"/>
              <a:chExt cx="3240024" cy="1984775"/>
            </a:xfrm>
          </p:grpSpPr>
          <p:sp>
            <p:nvSpPr>
              <p:cNvPr id="88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2254253"/>
                <a:ext cx="3240024" cy="1479547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使用Requests库可快速向目标URL发送GET、POST等HTTP请求，代码简洁易用，轻松实现网络数据获取，无需处理底层复杂协议细节。</a:t>
                </a:r>
                <a:endParaRPr/>
              </a:p>
            </p:txBody>
          </p:sp>
          <p:sp>
            <p:nvSpPr>
              <p:cNvPr id="89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1749025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Requests发送请求</a:t>
                </a:r>
                <a:endParaRPr/>
              </a:p>
            </p:txBody>
          </p:sp>
        </p:grpSp>
        <p:grpSp>
          <p:nvGrpSpPr>
            <p:cNvPr id="90" name=""/>
            <p:cNvGrpSpPr/>
            <p:nvPr/>
          </p:nvGrpSpPr>
          <p:grpSpPr>
            <a:xfrm>
              <a:off x="8285226" y="1749021"/>
              <a:ext cx="3240024" cy="1984779"/>
              <a:chOff x="8285226" y="1749021"/>
              <a:chExt cx="3240024" cy="1984779"/>
            </a:xfrm>
          </p:grpSpPr>
          <p:sp>
            <p:nvSpPr>
              <p:cNvPr id="91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85226" y="2254250"/>
                <a:ext cx="3240024" cy="14795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发送请求后，可获取响应对象，通过属性读取状态码、文本或JSON内容，快速提取网页或接口返回的核心数据信息。</a:t>
                </a:r>
                <a:endParaRPr/>
              </a:p>
            </p:txBody>
          </p:sp>
          <p:sp>
            <p:nvSpPr>
              <p:cNvPr id="92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8285226" y="1749021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解析响应内容</a:t>
                </a:r>
                <a:endParaRPr/>
              </a:p>
            </p:txBody>
          </p:sp>
        </p:grpSp>
        <p:grpSp>
          <p:nvGrpSpPr>
            <p:cNvPr id="93" name=""/>
            <p:cNvGrpSpPr/>
            <p:nvPr/>
          </p:nvGrpSpPr>
          <p:grpSpPr>
            <a:xfrm>
              <a:off x="666750" y="4250923"/>
              <a:ext cx="3240024" cy="1984777"/>
              <a:chOff x="666750" y="4250923"/>
              <a:chExt cx="3240024" cy="1984777"/>
            </a:xfrm>
          </p:grpSpPr>
          <p:sp>
            <p:nvSpPr>
              <p:cNvPr id="94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4756152"/>
                <a:ext cx="3240024" cy="1479548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支持在请求中携带查询参数、请求头等信息，灵活适配不同接口的参数要求，满足各类网络请求场景的需求。</a:t>
                </a:r>
                <a:endParaRPr/>
              </a:p>
            </p:txBody>
          </p:sp>
          <p:sp>
            <p:nvSpPr>
              <p:cNvPr id="95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250923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处理请求参数</a:t>
                </a:r>
                <a:endParaRPr/>
              </a:p>
            </p:txBody>
          </p:sp>
        </p:grpSp>
        <p:grpSp>
          <p:nvGrpSpPr>
            <p:cNvPr id="96" name=""/>
            <p:cNvGrpSpPr/>
            <p:nvPr/>
          </p:nvGrpSpPr>
          <p:grpSpPr>
            <a:xfrm>
              <a:off x="8285226" y="4250922"/>
              <a:ext cx="3240024" cy="1984778"/>
              <a:chOff x="8285226" y="4250922"/>
              <a:chExt cx="3240024" cy="1984778"/>
            </a:xfrm>
          </p:grpSpPr>
          <p:sp>
            <p:nvSpPr>
              <p:cNvPr id="97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85226" y="4756150"/>
                <a:ext cx="3240024" cy="14795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通过Session对象可保持会话状态，自动处理Cookies，在多次请求间维持登录等状态，适合需要连续交互的场景。</a:t>
                </a:r>
                <a:endParaRPr/>
              </a:p>
            </p:txBody>
          </p:sp>
          <p:sp>
            <p:nvSpPr>
              <p:cNvPr id="98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8285226" y="4250922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会话保持方法</a:t>
                </a:r>
                <a:endParaRPr/>
              </a:p>
            </p:txBody>
          </p:sp>
        </p:grpSp>
      </p:grpSp>
      <p:sp>
        <p:nvSpPr>
          <p:cNvPr id="99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网络请求库应用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bg1"/>
        </a:solidFill>
      </p:bgPr>
    </p:bg>
    <p:spTree>
      <p:nvGrpSpPr>
        <p:cNvPr id="100" name="" descr="{&quot;isTemplate&quot;:true,&quot;type&quot;:&quot;page&quot;,&quot;originSlideId&quot;:&quot;b826571b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Oval 2"/>
          <p:cNvSpPr/>
          <p:nvPr/>
        </p:nvSpPr>
        <p:spPr>
          <a:xfrm>
            <a:off x="5078930" y="2572264"/>
            <a:ext cx="2021449" cy="2021449"/>
          </a:xfrm>
          <a:prstGeom prst="ellipse"/>
          <a:noFill/>
          <a:ln w="12700">
            <a:solidFill>
              <a:schemeClr val="bg1"/>
            </a:solidFill>
            <a:prstDash val="dash"/>
            <a:miter lim="800000"/>
          </a:ln>
        </p:spPr>
        <p:txBody>
          <a:bodyPr anchor="ctr">
            <a:noAutofit/>
          </a:bodyPr>
          <a:lstStyle/>
          <a:p>
            <a:pPr algn="ctr">
              <a:lnSpc>
                <a:spcPct val="130000"/>
              </a:lnSpc>
            </a:pPr>
            <a:endParaRPr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 rot="0" flipH="true" flipV="true">
            <a:off x="4488092" y="1981426"/>
            <a:ext cx="3203125" cy="3203124"/>
          </a:xfrm>
          <a:prstGeom prst="blockArc">
            <a:avLst>
              <a:gd name="adj1" fmla="val 21599999"/>
              <a:gd name="adj2" fmla="val 8180671"/>
              <a:gd name="adj3" fmla="val 11913"/>
            </a:avLst>
          </a:prstGeom>
          <a:solidFill>
            <a:schemeClr val="accent1">
              <a:alpha val="100000"/>
            </a:schemeClr>
          </a:solidFill>
          <a:ln w="12700">
            <a:noFill/>
            <a:prstDash val="solid"/>
            <a:miter lim="800000"/>
          </a:ln>
        </p:spPr>
        <p:txBody>
          <a:bodyPr vert="horz" wrap="square" lIns="91440" tIns="45720" rIns="91440" bIns="45720" numCol="1" spcCol="0" anchor="ctr" anchorCtr="false">
            <a:noAutofit/>
          </a:bodyPr>
          <a:p>
            <a:pPr algn="ctr">
              <a:lnSpc>
                <a:spcPct val="130000"/>
              </a:lnSpc>
            </a:pPr>
            <a:endParaRPr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103" name=""/>
          <p:cNvSpPr/>
          <p:nvPr/>
        </p:nvSpPr>
        <p:spPr>
          <a:xfrm rot="18900000" flipH="true" flipV="true">
            <a:off x="6966834" y="2506533"/>
            <a:ext cx="658106" cy="567333"/>
          </a:xfrm>
          <a:prstGeom prst="triangle"/>
          <a:solidFill>
            <a:schemeClr val="accent1">
              <a:alpha val="100000"/>
            </a:schemeClr>
          </a:solidFill>
          <a:ln w="12700">
            <a:noFill/>
            <a:prstDash val="solid"/>
            <a:miter lim="800000"/>
          </a:ln>
          <a:effectLst>
            <a:outerShdw blurRad="774700" dist="850900" dir="2700000" algn="tl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numCol="1" spcCol="0" anchor="ctr" anchorCtr="false">
            <a:noAutofit/>
          </a:bodyPr>
          <a:p>
            <a:pPr algn="ctr">
              <a:lnSpc>
                <a:spcPct val="130000"/>
              </a:lnSpc>
            </a:pPr>
            <a:endParaRPr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104" name=""/>
          <p:cNvSpPr/>
          <p:nvPr/>
        </p:nvSpPr>
        <p:spPr>
          <a:xfrm rot="0" flipH="false" flipV="false">
            <a:off x="4514587" y="2007931"/>
            <a:ext cx="3203125" cy="3203124"/>
          </a:xfrm>
          <a:prstGeom prst="blockArc">
            <a:avLst>
              <a:gd name="adj1" fmla="val 21599999"/>
              <a:gd name="adj2" fmla="val 8180671"/>
              <a:gd name="adj3" fmla="val 11913"/>
            </a:avLst>
          </a:prstGeom>
          <a:solidFill>
            <a:schemeClr val="accent2">
              <a:alpha val="100000"/>
            </a:schemeClr>
          </a:solidFill>
          <a:ln w="12700">
            <a:noFill/>
            <a:prstDash val="solid"/>
            <a:miter lim="800000"/>
          </a:ln>
        </p:spPr>
        <p:txBody>
          <a:bodyPr vert="horz" wrap="square" lIns="91440" tIns="45720" rIns="91440" bIns="45720" numCol="1" spcCol="0" anchor="ctr" anchorCtr="false">
            <a:noAutofit/>
          </a:bodyPr>
          <a:p>
            <a:pPr algn="ctr">
              <a:lnSpc>
                <a:spcPct val="130000"/>
              </a:lnSpc>
            </a:pPr>
            <a:endParaRPr>
              <a:solidFill>
                <a:schemeClr val="tx1">
                  <a:alpha val="100000"/>
                </a:schemeClr>
              </a:solidFill>
            </a:endParaRPr>
          </a:p>
        </p:txBody>
      </p:sp>
      <p:sp>
        <p:nvSpPr>
          <p:cNvPr id="105" name=""/>
          <p:cNvSpPr/>
          <p:nvPr/>
        </p:nvSpPr>
        <p:spPr>
          <a:xfrm rot="8100000" flipH="false" flipV="true">
            <a:off x="4562444" y="4108590"/>
            <a:ext cx="658105" cy="567333"/>
          </a:xfrm>
          <a:prstGeom prst="triangle"/>
          <a:solidFill>
            <a:schemeClr val="accent2">
              <a:alpha val="100000"/>
            </a:schemeClr>
          </a:solidFill>
          <a:ln w="12700">
            <a:noFill/>
            <a:prstDash val="solid"/>
            <a:miter lim="800000"/>
          </a:ln>
          <a:effectLst>
            <a:outerShdw blurRad="774700" dist="850900" dir="2700000" algn="tl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numCol="1" spcCol="0" anchor="ctr" anchorCtr="false">
            <a:noAutofit/>
          </a:bodyPr>
          <a:p>
            <a:pPr algn="ctr">
              <a:lnSpc>
                <a:spcPct val="130000"/>
              </a:lnSpc>
            </a:pPr>
            <a:endParaRPr>
              <a:solidFill>
                <a:schemeClr val="tx1">
                  <a:alpha val="100000"/>
                </a:schemeClr>
              </a:solidFill>
            </a:endParaRPr>
          </a:p>
        </p:txBody>
      </p:sp>
      <p:grpSp>
        <p:nvGrpSpPr>
          <p:cNvPr id="106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10852150" cy="5003800"/>
            <a:chOff x="666750" y="1231900"/>
            <a:chExt cx="10852150" cy="5003800"/>
          </a:xfrm>
        </p:grpSpPr>
        <p:grpSp>
          <p:nvGrpSpPr>
            <p:cNvPr id="107" name=""/>
            <p:cNvGrpSpPr/>
            <p:nvPr/>
          </p:nvGrpSpPr>
          <p:grpSpPr>
            <a:xfrm>
              <a:off x="666750" y="1231900"/>
              <a:ext cx="3240024" cy="1432327"/>
              <a:chOff x="666750" y="1231900"/>
              <a:chExt cx="3240024" cy="1432327"/>
            </a:xfrm>
          </p:grpSpPr>
          <p:sp>
            <p:nvSpPr>
              <p:cNvPr id="108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1737128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使用openpyxl或pandas库，轻松读取、写入、修改Excel数据，实现批量处理表格的高效操作。</a:t>
                </a:r>
                <a:endParaRPr/>
              </a:p>
            </p:txBody>
          </p:sp>
          <p:sp>
            <p:nvSpPr>
              <p:cNvPr id="109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1231900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操作Excel文件</a:t>
                </a:r>
                <a:endParaRPr/>
              </a:p>
            </p:txBody>
          </p:sp>
        </p:grpSp>
        <p:grpSp>
          <p:nvGrpSpPr>
            <p:cNvPr id="110" name=""/>
            <p:cNvGrpSpPr/>
            <p:nvPr/>
          </p:nvGrpSpPr>
          <p:grpSpPr>
            <a:xfrm>
              <a:off x="8278876" y="1231900"/>
              <a:ext cx="3240024" cy="1432328"/>
              <a:chOff x="8278876" y="1231900"/>
              <a:chExt cx="3240024" cy="1432328"/>
            </a:xfrm>
          </p:grpSpPr>
          <p:sp>
            <p:nvSpPr>
              <p:cNvPr id="111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78876" y="1737129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利用python-docx库，可自动创建、编辑Word文档，批量替换文本、插入图片与表格。</a:t>
                </a:r>
                <a:endParaRPr/>
              </a:p>
            </p:txBody>
          </p:sp>
          <p:sp>
            <p:nvSpPr>
              <p:cNvPr id="112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8278876" y="1231900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处理Word文档</a:t>
                </a:r>
                <a:endParaRPr/>
              </a:p>
            </p:txBody>
          </p:sp>
        </p:grpSp>
        <p:grpSp>
          <p:nvGrpSpPr>
            <p:cNvPr id="113" name=""/>
            <p:cNvGrpSpPr/>
            <p:nvPr/>
          </p:nvGrpSpPr>
          <p:grpSpPr>
            <a:xfrm>
              <a:off x="666750" y="3017636"/>
              <a:ext cx="3240024" cy="1432327"/>
              <a:chOff x="666750" y="3017636"/>
              <a:chExt cx="3240024" cy="1432327"/>
            </a:xfrm>
          </p:grpSpPr>
          <p:sp>
            <p:nvSpPr>
              <p:cNvPr id="114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3522865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通过reportlab等库生成PDF文件，支持自定义排版、添加图表，快速输出标准化报表。</a:t>
                </a:r>
                <a:endParaRPr/>
              </a:p>
            </p:txBody>
          </p:sp>
          <p:sp>
            <p:nvSpPr>
              <p:cNvPr id="115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3017637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生成PDF报表</a:t>
                </a:r>
                <a:endParaRPr/>
              </a:p>
            </p:txBody>
          </p:sp>
        </p:grpSp>
        <p:grpSp>
          <p:nvGrpSpPr>
            <p:cNvPr id="116" name=""/>
            <p:cNvGrpSpPr/>
            <p:nvPr/>
          </p:nvGrpSpPr>
          <p:grpSpPr>
            <a:xfrm>
              <a:off x="8278876" y="3017636"/>
              <a:ext cx="3240024" cy="1432328"/>
              <a:chOff x="8278876" y="3017636"/>
              <a:chExt cx="3240024" cy="1432328"/>
            </a:xfrm>
          </p:grpSpPr>
          <p:sp>
            <p:nvSpPr>
              <p:cNvPr id="117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78876" y="3522865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借助smtplib与email库，自动发送邮件，支持添加附件、群发，实现通知自动化。</a:t>
                </a:r>
                <a:endParaRPr/>
              </a:p>
            </p:txBody>
          </p:sp>
          <p:sp>
            <p:nvSpPr>
              <p:cNvPr id="118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8278876" y="3017636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邮件自动发送</a:t>
                </a:r>
                <a:endParaRPr/>
              </a:p>
            </p:txBody>
          </p:sp>
        </p:grpSp>
        <p:grpSp>
          <p:nvGrpSpPr>
            <p:cNvPr id="119" name=""/>
            <p:cNvGrpSpPr/>
            <p:nvPr/>
          </p:nvGrpSpPr>
          <p:grpSpPr>
            <a:xfrm>
              <a:off x="666750" y="4803373"/>
              <a:ext cx="3240024" cy="1432327"/>
              <a:chOff x="666750" y="4803373"/>
              <a:chExt cx="3240024" cy="1432327"/>
            </a:xfrm>
          </p:grpSpPr>
          <p:sp>
            <p:nvSpPr>
              <p:cNvPr id="120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5308601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结合schedule或APScheduler库，设置定时规则，让脚本在指定时间自动执行任务。</a:t>
                </a:r>
                <a:endParaRPr/>
              </a:p>
            </p:txBody>
          </p:sp>
          <p:sp>
            <p:nvSpPr>
              <p:cNvPr id="121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66750" y="4803373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 algn="r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定时任务设置</a:t>
                </a:r>
                <a:endParaRPr/>
              </a:p>
            </p:txBody>
          </p:sp>
        </p:grpSp>
        <p:grpSp>
          <p:nvGrpSpPr>
            <p:cNvPr id="122" name=""/>
            <p:cNvGrpSpPr/>
            <p:nvPr/>
          </p:nvGrpSpPr>
          <p:grpSpPr>
            <a:xfrm>
              <a:off x="8278876" y="4803372"/>
              <a:ext cx="3240024" cy="1432328"/>
              <a:chOff x="8278876" y="4803372"/>
              <a:chExt cx="3240024" cy="1432328"/>
            </a:xfrm>
          </p:grpSpPr>
          <p:sp>
            <p:nvSpPr>
              <p:cNvPr id="123" name="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278876" y="5308601"/>
                <a:ext cx="3240024" cy="927099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 rtlCol="false">
                <a:noAutofit/>
              </a:bodyPr>
              <a:lstStyle/>
              <a:p>
                <a:pPr lvl="0" algn="just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Pct val="25000"/>
                  <a:buFontTx/>
                  <a:buNone/>
                  <a:defRPr sz="14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整合上述工具，串联多步骤操作，用Python脚本替代人工重复劳动，提升办公效率。</a:t>
                </a:r>
                <a:endParaRPr/>
              </a:p>
            </p:txBody>
          </p:sp>
          <p:sp>
            <p:nvSpPr>
              <p:cNvPr id="124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8278876" y="4803372"/>
                <a:ext cx="3240024" cy="488950"/>
              </a:xfrm>
              <a:prstGeom prst="rect">
                <a:avLst/>
              </a:prstGeom>
              <a:noFill/>
              <a:ln w="12700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0043" tIns="46863" rIns="90043" bIns="46863" rtlCol="false" anchor="b" anchorCtr="false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流程自动化实现</a:t>
                </a:r>
                <a:endParaRPr/>
              </a:p>
            </p:txBody>
          </p:sp>
        </p:grpSp>
      </p:grpSp>
      <p:sp>
        <p:nvSpPr>
          <p:cNvPr id="125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自动化办公工具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26" name="" descr="{&quot;isTemplate&quot;:true,&quot;type&quot;:&quot;session&quot;,&quot;originSlideId&quot;:&quot;gwll2gdu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4" descr="{&quot;isTemplate&quot;:true,&quot;type&quot;:&quot;serialNumber&quot;}"/>
          <p:cNvSpPr txBox="true"/>
          <p:nvPr/>
        </p:nvSpPr>
        <p:spPr>
          <a:xfrm rot="0" flipH="false" flipV="false">
            <a:off x="3270458" y="3009487"/>
            <a:ext cx="1027845" cy="1055289"/>
          </a:xfrm>
          <a:prstGeom prst="rect"/>
          <a:noFill/>
        </p:spPr>
        <p:txBody>
          <a:bodyPr wrap="none" anchor="ctr">
            <a:spAutoFit/>
          </a:bodyPr>
          <a:p>
            <a:pPr algn="ctr" defTabSz="914400">
              <a:lnSpc>
                <a:spcPct val="130000"/>
              </a:lnSpc>
              <a:buClrTx/>
              <a:buSzTx/>
              <a:buFontTx/>
            </a:pPr>
            <a:r>
              <a:rPr lang="en-US" sz="8000" b="true" kern="1200" spc="0" baseline="12000">
                <a:solidFill>
                  <a:schemeClr val="bg1"/>
                </a:solidFill>
                <a:effectLst>
                  <a:innerShdw blurRad="63500" dist="50800" dir="18900000">
                    <a:srgbClr val="000000">
                      <a:alpha val="30000"/>
                    </a:srgbClr>
                  </a:innerShdw>
                </a:effectLst>
                <a:latin typeface="微软雅黑"/>
                <a:ea typeface="微软雅黑"/>
              </a:rPr>
              <a:t>04</a:t>
            </a:r>
            <a:endParaRPr lang="zh-CN" sz="8000" b="true" kern="1200" spc="0" baseline="12000">
              <a:solidFill>
                <a:schemeClr val="bg1"/>
              </a:solidFill>
              <a:effectLst>
                <a:innerShdw blurRad="63500" dist="50800" dir="18900000">
                  <a:srgbClr val="000000">
                    <a:alpha val="30000"/>
                  </a:srgbClr>
                </a:innerShdw>
              </a:effectLst>
              <a:latin typeface="微软雅黑"/>
              <a:ea typeface="微软雅黑"/>
            </a:endParaRPr>
          </a:p>
        </p:txBody>
      </p:sp>
      <p:sp>
        <p:nvSpPr>
          <p:cNvPr id="128" name="文本框 6" descr="{&quot;isTemplate&quot;:true,&quot;type&quot;:&quot;title&quot;,&quot;canOmit&quot;:false}"/>
          <p:cNvSpPr txBox="true"/>
          <p:nvPr/>
        </p:nvSpPr>
        <p:spPr>
          <a:xfrm rot="0" flipH="false" flipV="false">
            <a:off x="5830254" y="2264722"/>
            <a:ext cx="6178513" cy="2544819"/>
          </a:xfrm>
          <a:prstGeom prst="rect"/>
          <a:noFill/>
        </p:spPr>
        <p:txBody>
          <a:bodyPr wrap="square" anchor="ctr">
            <a:noAutofit/>
          </a:bodyPr>
          <a:lstStyle/>
          <a:p>
            <a:pPr marL="0" indent="0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sz="4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实战项目与提升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 descr="{&quot;isTemplate&quot;:true,&quot;type&quot;:&quot;page&quot;,&quot;originSlideId&quot;:&quot;6d39b841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ictureMisc1" descr="{&quot;isTemplate&quot;:true,&quot;type&quot;:&quot;image&quot;}"/>
          <p:cNvSpPr/>
          <p:nvPr/>
        </p:nvSpPr>
        <p:spPr>
          <a:xfrm rot="0" flipH="false" flipV="false">
            <a:off x="0" y="4300858"/>
            <a:ext cx="12192000" cy="2580725"/>
          </a:xfrm>
          <a:custGeom>
            <a:avLst/>
            <a:gdLst>
              <a:gd name="connsiteX0" fmla="*/ 0 w 12192000"/>
              <a:gd name="connsiteY0" fmla="*/ 0 h 2580725"/>
              <a:gd name="connsiteX1" fmla="*/ 12192000 w 12192000"/>
              <a:gd name="connsiteY1" fmla="*/ 0 h 2580725"/>
              <a:gd name="connsiteX2" fmla="*/ 12192000 w 12192000"/>
              <a:gd name="connsiteY2" fmla="*/ 2580725 h 2580725"/>
              <a:gd name="connsiteX3" fmla="*/ 0 w 12192000"/>
              <a:gd name="connsiteY3" fmla="*/ 2580725 h 258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80725">
                <a:moveTo>
                  <a:pt x="0" y="0"/>
                </a:moveTo>
                <a:lnTo>
                  <a:pt x="12192000" y="0"/>
                </a:lnTo>
                <a:lnTo>
                  <a:pt x="12192000" y="2580725"/>
                </a:lnTo>
                <a:lnTo>
                  <a:pt x="0" y="2580725"/>
                </a:lnTo>
                <a:close/>
              </a:path>
            </a:pathLst>
          </a:custGeom>
          <a:blipFill>
            <a:blip r:embed="rId1"/>
            <a:tile tx="0" ty="-5143500" sx="187500" sy="1875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sz="1600">
              <a:sym typeface="Arial"/>
            </a:endParaRPr>
          </a:p>
        </p:txBody>
      </p:sp>
      <p:grpSp>
        <p:nvGrpSpPr>
          <p:cNvPr id="131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944855"/>
            <a:ext cx="10852150" cy="4290845"/>
            <a:chOff x="666750" y="1944855"/>
            <a:chExt cx="10852150" cy="4290845"/>
          </a:xfrm>
        </p:grpSpPr>
        <p:grpSp>
          <p:nvGrpSpPr>
            <p:cNvPr id="132" name=""/>
            <p:cNvGrpSpPr/>
            <p:nvPr/>
          </p:nvGrpSpPr>
          <p:grpSpPr>
            <a:xfrm>
              <a:off x="666750" y="1944855"/>
              <a:ext cx="3448050" cy="4290845"/>
              <a:chOff x="2008664" y="1732584"/>
              <a:chExt cx="3448050" cy="4290845"/>
            </a:xfrm>
          </p:grpSpPr>
          <p:sp>
            <p:nvSpPr>
              <p:cNvPr id="133" name="ShapeRoundedRectangle 58"/>
              <p:cNvSpPr/>
              <p:nvPr/>
            </p:nvSpPr>
            <p:spPr>
              <a:xfrm rot="0" flipH="false" flipV="false">
                <a:off x="2008664" y="1732584"/>
                <a:ext cx="3448050" cy="4290845"/>
              </a:xfrm>
              <a:prstGeom prst="roundRect">
                <a:avLst>
                  <a:gd name="adj" fmla="val 4000"/>
                </a:avLst>
              </a:prstGeom>
              <a:solidFill>
                <a:schemeClr val="bg1">
                  <a:alpha val="9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false">
                <a:normAutofit fontScale="10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true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134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2059140" y="1834246"/>
                <a:ext cx="3347099" cy="7129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marL="0" indent="0">
                  <a:buNone/>
                </a:pPr>
                <a:r>
                  <a:rPr lang="zh-CN" b="true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爬虫项目开发</a:t>
                </a:r>
                <a:endParaRPr lang="en-US"/>
              </a:p>
            </p:txBody>
          </p:sp>
          <p:sp>
            <p:nvSpPr>
              <p:cNvPr id="135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2059140" y="2995389"/>
                <a:ext cx="3347099" cy="2917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t" anchorCtr="false">
                <a:normAutofit fontScale="10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使用Python编写网络爬虫，抓取指定网站的数据信息，掌握requests、BeautifulSoup等库的使用方法。</a:t>
                </a:r>
                <a:endParaRPr/>
              </a:p>
            </p:txBody>
          </p:sp>
          <p:cxnSp>
            <p:nvCxnSpPr>
              <p:cNvPr id="136" name="直接连接符 3"/>
              <p:cNvCxnSpPr/>
              <p:nvPr/>
            </p:nvCxnSpPr>
            <p:spPr>
              <a:xfrm rot="0" flipH="false" flipV="false">
                <a:off x="2169649" y="2730500"/>
                <a:ext cx="374558" cy="0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"/>
            <p:cNvGrpSpPr/>
            <p:nvPr/>
          </p:nvGrpSpPr>
          <p:grpSpPr>
            <a:xfrm>
              <a:off x="4368800" y="1944855"/>
              <a:ext cx="3448050" cy="4290845"/>
              <a:chOff x="6777958" y="1834246"/>
              <a:chExt cx="3448050" cy="4290845"/>
            </a:xfrm>
          </p:grpSpPr>
          <p:sp>
            <p:nvSpPr>
              <p:cNvPr id="138" name="ShapeRoundedRectangle 58"/>
              <p:cNvSpPr/>
              <p:nvPr/>
            </p:nvSpPr>
            <p:spPr>
              <a:xfrm rot="0" flipH="false" flipV="false">
                <a:off x="6777958" y="1834246"/>
                <a:ext cx="3448050" cy="4290845"/>
              </a:xfrm>
              <a:prstGeom prst="roundRect">
                <a:avLst>
                  <a:gd name="adj" fmla="val 4000"/>
                </a:avLst>
              </a:prstGeom>
              <a:solidFill>
                <a:schemeClr val="bg1">
                  <a:alpha val="9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false">
                <a:normAutofit fontScale="10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true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139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6828433" y="1935908"/>
                <a:ext cx="3347100" cy="7129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marL="0" indent="0">
                  <a:buNone/>
                </a:pPr>
                <a:r>
                  <a:rPr lang="zh-CN" b="true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数据分析项目</a:t>
                </a:r>
                <a:endParaRPr lang="en-US"/>
              </a:p>
            </p:txBody>
          </p:sp>
          <p:sp>
            <p:nvSpPr>
              <p:cNvPr id="140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6828433" y="3097051"/>
                <a:ext cx="3347100" cy="2917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t" anchorCtr="false">
                <a:normAutofit fontScale="10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利用Pandas等工具处理分析实际数据，完成数据清洗、统计与可视化展示任务。</a:t>
                </a:r>
                <a:endParaRPr/>
              </a:p>
            </p:txBody>
          </p:sp>
          <p:cxnSp>
            <p:nvCxnSpPr>
              <p:cNvPr id="141" name="直接连接符 3"/>
              <p:cNvCxnSpPr/>
              <p:nvPr/>
            </p:nvCxnSpPr>
            <p:spPr>
              <a:xfrm rot="0" flipH="false" flipV="false">
                <a:off x="6938943" y="2832162"/>
                <a:ext cx="374558" cy="0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"/>
            <p:cNvGrpSpPr/>
            <p:nvPr/>
          </p:nvGrpSpPr>
          <p:grpSpPr>
            <a:xfrm>
              <a:off x="8070850" y="1944855"/>
              <a:ext cx="3448050" cy="4290845"/>
              <a:chOff x="2008664" y="1732584"/>
              <a:chExt cx="3448050" cy="4290845"/>
            </a:xfrm>
          </p:grpSpPr>
          <p:sp>
            <p:nvSpPr>
              <p:cNvPr id="143" name="ShapeRoundedRectangle 58"/>
              <p:cNvSpPr/>
              <p:nvPr/>
            </p:nvSpPr>
            <p:spPr>
              <a:xfrm rot="0" flipH="false" flipV="false">
                <a:off x="2008664" y="1732584"/>
                <a:ext cx="3448050" cy="4290845"/>
              </a:xfrm>
              <a:prstGeom prst="roundRect">
                <a:avLst>
                  <a:gd name="adj" fmla="val 4000"/>
                </a:avLst>
              </a:prstGeom>
              <a:solidFill>
                <a:schemeClr val="bg1">
                  <a:alpha val="90000"/>
                </a:schemeClr>
              </a:solidFill>
              <a:ln w="63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lIns="91440" tIns="45720" rIns="91440" bIns="45720" anchor="ctr" anchorCtr="false">
                <a:normAutofit fontScale="100000"/>
              </a:bodyPr>
              <a:lstStyle/>
              <a:p>
                <a:pPr algn="ctr">
                  <a:lnSpc>
                    <a:spcPct val="120000"/>
                  </a:lnSpc>
                </a:pPr>
                <a:endParaRPr lang="zh-CN" sz="2400" b="true">
                  <a:solidFill>
                    <a:schemeClr val="lt1">
                      <a:alpha val="100000"/>
                    </a:schemeClr>
                  </a:solidFill>
                  <a:sym typeface="Arial"/>
                </a:endParaRPr>
              </a:p>
            </p:txBody>
          </p:sp>
          <p:sp>
            <p:nvSpPr>
              <p:cNvPr id="144" name="" descr="{&quot;isTemplate&quot;:true,&quot;type&quot;:&quot;title&quot;,&quot;canOmit&quot;:false}"/>
              <p:cNvSpPr/>
              <p:nvPr/>
            </p:nvSpPr>
            <p:spPr>
              <a:xfrm rot="0" flipH="false" flipV="false">
                <a:off x="2059140" y="1834246"/>
                <a:ext cx="3347099" cy="71295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ctr" anchorCtr="false">
                <a:normAutofit fontScale="100000"/>
              </a:bodyPr>
              <a:lstStyle/>
              <a:p>
                <a:pPr marL="0" indent="0">
                  <a:buNone/>
                </a:pPr>
                <a:r>
                  <a:rPr lang="zh-CN" b="true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自动化脚本</a:t>
                </a:r>
                <a:endParaRPr lang="en-US"/>
              </a:p>
            </p:txBody>
          </p:sp>
          <p:sp>
            <p:nvSpPr>
              <p:cNvPr id="145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2059140" y="2995389"/>
                <a:ext cx="3347099" cy="29173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false" anchor="t" anchorCtr="false">
                <a:normAutofit fontScale="10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>
                    <a:solidFill>
                      <a:schemeClr val="tx1">
                        <a:alpha val="100000"/>
                      </a:schemeClr>
                    </a:solidFill>
                    <a:sym typeface="Arial"/>
                  </a:rPr>
                  <a:t>编写Python脚本实现文件批量处理、定时任务等，提升日常办公与操作效率。</a:t>
                </a:r>
                <a:endParaRPr/>
              </a:p>
            </p:txBody>
          </p:sp>
          <p:cxnSp>
            <p:nvCxnSpPr>
              <p:cNvPr id="146" name="直接连接符 3"/>
              <p:cNvCxnSpPr/>
              <p:nvPr/>
            </p:nvCxnSpPr>
            <p:spPr>
              <a:xfrm rot="0" flipH="false" flipV="false">
                <a:off x="2169649" y="2730500"/>
                <a:ext cx="374558" cy="0"/>
              </a:xfrm>
              <a:prstGeom prst="line">
                <a:avLst/>
              </a:prstGeom>
              <a:ln w="889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7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小型项目实践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48" name="" descr="{&quot;isTemplate&quot;:true,&quot;type&quot;:&quot;page&quot;,&quot;originSlideId&quot;:&quot;d0cf158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"/>
          <p:cNvGrpSpPr/>
          <p:nvPr/>
        </p:nvGrpSpPr>
        <p:grpSpPr>
          <a:xfrm rot="0" flipH="false" flipV="false">
            <a:off x="1675607" y="2653863"/>
            <a:ext cx="9060912" cy="2430960"/>
            <a:chOff x="1644580" y="2424277"/>
            <a:chExt cx="9060912" cy="2430960"/>
          </a:xfrm>
        </p:grpSpPr>
        <p:sp>
          <p:nvSpPr>
            <p:cNvPr id="150" name=""/>
            <p:cNvSpPr/>
            <p:nvPr/>
          </p:nvSpPr>
          <p:spPr>
            <a:xfrm rot="0" flipH="false" flipV="false">
              <a:off x="8076005" y="3320309"/>
              <a:ext cx="2629487" cy="1519491"/>
            </a:xfrm>
            <a:custGeom>
              <a:avLst/>
              <a:gdLst>
                <a:gd name="connsiteX0" fmla="*/ 1495053 w 3181348"/>
                <a:gd name="connsiteY0" fmla="*/ 1838394 h 1838394"/>
                <a:gd name="connsiteX1" fmla="*/ 2983619 w 3181348"/>
                <a:gd name="connsiteY1" fmla="*/ 495090 h 1838394"/>
                <a:gd name="connsiteX2" fmla="*/ 2990107 w 3181348"/>
                <a:gd name="connsiteY2" fmla="*/ 366615 h 1838394"/>
                <a:gd name="connsiteX3" fmla="*/ 3181348 w 3181348"/>
                <a:gd name="connsiteY3" fmla="*/ 366615 h 1838394"/>
                <a:gd name="connsiteX4" fmla="*/ 2795400 w 3181348"/>
                <a:gd name="connsiteY4" fmla="*/ 0 h 1838394"/>
                <a:gd name="connsiteX5" fmla="*/ 2409452 w 3181348"/>
                <a:gd name="connsiteY5" fmla="*/ 366615 h 1838394"/>
                <a:gd name="connsiteX6" fmla="*/ 2599424 w 3181348"/>
                <a:gd name="connsiteY6" fmla="*/ 366615 h 1838394"/>
                <a:gd name="connsiteX7" fmla="*/ 2594954 w 3181348"/>
                <a:gd name="connsiteY7" fmla="*/ 455145 h 1838394"/>
                <a:gd name="connsiteX8" fmla="*/ 1495053 w 3181348"/>
                <a:gd name="connsiteY8" fmla="*/ 1447712 h 1838394"/>
                <a:gd name="connsiteX9" fmla="*/ 395152 w 3181348"/>
                <a:gd name="connsiteY9" fmla="*/ 455145 h 1838394"/>
                <a:gd name="connsiteX10" fmla="*/ 390682 w 3181348"/>
                <a:gd name="connsiteY10" fmla="*/ 366615 h 1838394"/>
                <a:gd name="connsiteX11" fmla="*/ 0 w 3181348"/>
                <a:gd name="connsiteY11" fmla="*/ 366615 h 1838394"/>
                <a:gd name="connsiteX12" fmla="*/ 6487 w 3181348"/>
                <a:gd name="connsiteY12" fmla="*/ 495090 h 1838394"/>
                <a:gd name="connsiteX13" fmla="*/ 1495053 w 3181348"/>
                <a:gd name="connsiteY13" fmla="*/ 1838394 h 183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81348" h="1838394">
                  <a:moveTo>
                    <a:pt x="1495053" y="1838394"/>
                  </a:moveTo>
                  <a:cubicBezTo>
                    <a:pt x="2269783" y="1838394"/>
                    <a:pt x="2906994" y="1249604"/>
                    <a:pt x="2983619" y="495090"/>
                  </a:cubicBezTo>
                  <a:lnTo>
                    <a:pt x="2990107" y="366615"/>
                  </a:lnTo>
                  <a:lnTo>
                    <a:pt x="3181348" y="366615"/>
                  </a:lnTo>
                  <a:lnTo>
                    <a:pt x="2795400" y="0"/>
                  </a:lnTo>
                  <a:lnTo>
                    <a:pt x="2409452" y="366615"/>
                  </a:lnTo>
                  <a:lnTo>
                    <a:pt x="2599424" y="366615"/>
                  </a:lnTo>
                  <a:lnTo>
                    <a:pt x="2594954" y="455145"/>
                  </a:lnTo>
                  <a:cubicBezTo>
                    <a:pt x="2538336" y="1012655"/>
                    <a:pt x="2067501" y="1447712"/>
                    <a:pt x="1495053" y="1447712"/>
                  </a:cubicBezTo>
                  <a:cubicBezTo>
                    <a:pt x="922605" y="1447712"/>
                    <a:pt x="451771" y="1012655"/>
                    <a:pt x="395152" y="455145"/>
                  </a:cubicBezTo>
                  <a:lnTo>
                    <a:pt x="390682" y="366615"/>
                  </a:lnTo>
                  <a:lnTo>
                    <a:pt x="0" y="366615"/>
                  </a:lnTo>
                  <a:lnTo>
                    <a:pt x="6487" y="495090"/>
                  </a:lnTo>
                  <a:cubicBezTo>
                    <a:pt x="83112" y="1249604"/>
                    <a:pt x="720323" y="1838394"/>
                    <a:pt x="1495053" y="1838394"/>
                  </a:cubicBezTo>
                  <a:close/>
                </a:path>
              </a:pathLst>
            </a:custGeom>
            <a:solidFill>
              <a:schemeClr val="accent2">
                <a:alpha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lvl="0" indent="0" algn="ctr" defTabSz="410765">
                <a:lnSpc>
                  <a:spcPct val="100000"/>
                </a:lnSpc>
                <a:buClrTx/>
                <a:buSzTx/>
                <a:buFontTx/>
                <a:buNone/>
                <a:defRPr sz="1800">
                  <a:solidFill>
                    <a:schemeClr val="lt1">
                      <a:alpha val="100000"/>
                    </a:schemeClr>
                  </a:solidFill>
                </a:defRPr>
              </a:pPr>
              <a:endParaRPr lang="zh-CN" sz="3200" b="false" i="false" u="none" strike="noStrike" spc="0" baseline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sym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 rot="0" flipH="false" flipV="true">
              <a:off x="5933055" y="2424277"/>
              <a:ext cx="2629487" cy="1519491"/>
            </a:xfrm>
            <a:custGeom>
              <a:avLst/>
              <a:gdLst>
                <a:gd name="connsiteX0" fmla="*/ 1495053 w 3181348"/>
                <a:gd name="connsiteY0" fmla="*/ 1838394 h 1838394"/>
                <a:gd name="connsiteX1" fmla="*/ 2983619 w 3181348"/>
                <a:gd name="connsiteY1" fmla="*/ 495090 h 1838394"/>
                <a:gd name="connsiteX2" fmla="*/ 2990107 w 3181348"/>
                <a:gd name="connsiteY2" fmla="*/ 366615 h 1838394"/>
                <a:gd name="connsiteX3" fmla="*/ 3181348 w 3181348"/>
                <a:gd name="connsiteY3" fmla="*/ 366615 h 1838394"/>
                <a:gd name="connsiteX4" fmla="*/ 2795400 w 3181348"/>
                <a:gd name="connsiteY4" fmla="*/ 0 h 1838394"/>
                <a:gd name="connsiteX5" fmla="*/ 2409452 w 3181348"/>
                <a:gd name="connsiteY5" fmla="*/ 366615 h 1838394"/>
                <a:gd name="connsiteX6" fmla="*/ 2599424 w 3181348"/>
                <a:gd name="connsiteY6" fmla="*/ 366615 h 1838394"/>
                <a:gd name="connsiteX7" fmla="*/ 2594954 w 3181348"/>
                <a:gd name="connsiteY7" fmla="*/ 455145 h 1838394"/>
                <a:gd name="connsiteX8" fmla="*/ 1495053 w 3181348"/>
                <a:gd name="connsiteY8" fmla="*/ 1447712 h 1838394"/>
                <a:gd name="connsiteX9" fmla="*/ 395152 w 3181348"/>
                <a:gd name="connsiteY9" fmla="*/ 455145 h 1838394"/>
                <a:gd name="connsiteX10" fmla="*/ 390682 w 3181348"/>
                <a:gd name="connsiteY10" fmla="*/ 366615 h 1838394"/>
                <a:gd name="connsiteX11" fmla="*/ 0 w 3181348"/>
                <a:gd name="connsiteY11" fmla="*/ 366615 h 1838394"/>
                <a:gd name="connsiteX12" fmla="*/ 6487 w 3181348"/>
                <a:gd name="connsiteY12" fmla="*/ 495090 h 1838394"/>
                <a:gd name="connsiteX13" fmla="*/ 1495053 w 3181348"/>
                <a:gd name="connsiteY13" fmla="*/ 1838394 h 183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81348" h="1838394">
                  <a:moveTo>
                    <a:pt x="1495053" y="1838394"/>
                  </a:moveTo>
                  <a:cubicBezTo>
                    <a:pt x="2269783" y="1838394"/>
                    <a:pt x="2906994" y="1249604"/>
                    <a:pt x="2983619" y="495090"/>
                  </a:cubicBezTo>
                  <a:lnTo>
                    <a:pt x="2990107" y="366615"/>
                  </a:lnTo>
                  <a:lnTo>
                    <a:pt x="3181348" y="366615"/>
                  </a:lnTo>
                  <a:lnTo>
                    <a:pt x="2795400" y="0"/>
                  </a:lnTo>
                  <a:lnTo>
                    <a:pt x="2409452" y="366615"/>
                  </a:lnTo>
                  <a:lnTo>
                    <a:pt x="2599424" y="366615"/>
                  </a:lnTo>
                  <a:lnTo>
                    <a:pt x="2594954" y="455145"/>
                  </a:lnTo>
                  <a:cubicBezTo>
                    <a:pt x="2538336" y="1012655"/>
                    <a:pt x="2067501" y="1447712"/>
                    <a:pt x="1495053" y="1447712"/>
                  </a:cubicBezTo>
                  <a:cubicBezTo>
                    <a:pt x="922605" y="1447712"/>
                    <a:pt x="451771" y="1012655"/>
                    <a:pt x="395152" y="455145"/>
                  </a:cubicBezTo>
                  <a:lnTo>
                    <a:pt x="390682" y="366615"/>
                  </a:lnTo>
                  <a:lnTo>
                    <a:pt x="0" y="366615"/>
                  </a:lnTo>
                  <a:lnTo>
                    <a:pt x="6487" y="495090"/>
                  </a:lnTo>
                  <a:cubicBezTo>
                    <a:pt x="83112" y="1249604"/>
                    <a:pt x="720323" y="1838394"/>
                    <a:pt x="1495053" y="18383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lvl="0" indent="0" algn="ctr" defTabSz="410765">
                <a:lnSpc>
                  <a:spcPct val="100000"/>
                </a:lnSpc>
                <a:buClrTx/>
                <a:buSzTx/>
                <a:buFontTx/>
                <a:buNone/>
                <a:defRPr sz="1800">
                  <a:solidFill>
                    <a:schemeClr val="lt1">
                      <a:alpha val="100000"/>
                    </a:schemeClr>
                  </a:solidFill>
                </a:defRPr>
              </a:pPr>
              <a:endParaRPr lang="zh-CN" sz="3200" b="false" i="false" u="none" strike="noStrike" spc="0" baseline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sym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0" flipH="false" flipV="false">
              <a:off x="3787531" y="3335746"/>
              <a:ext cx="2629487" cy="1519491"/>
            </a:xfrm>
            <a:custGeom>
              <a:avLst/>
              <a:gdLst>
                <a:gd name="connsiteX0" fmla="*/ 1495053 w 3181348"/>
                <a:gd name="connsiteY0" fmla="*/ 1838394 h 1838394"/>
                <a:gd name="connsiteX1" fmla="*/ 2983619 w 3181348"/>
                <a:gd name="connsiteY1" fmla="*/ 495090 h 1838394"/>
                <a:gd name="connsiteX2" fmla="*/ 2990107 w 3181348"/>
                <a:gd name="connsiteY2" fmla="*/ 366615 h 1838394"/>
                <a:gd name="connsiteX3" fmla="*/ 3181348 w 3181348"/>
                <a:gd name="connsiteY3" fmla="*/ 366615 h 1838394"/>
                <a:gd name="connsiteX4" fmla="*/ 2795400 w 3181348"/>
                <a:gd name="connsiteY4" fmla="*/ 0 h 1838394"/>
                <a:gd name="connsiteX5" fmla="*/ 2409452 w 3181348"/>
                <a:gd name="connsiteY5" fmla="*/ 366615 h 1838394"/>
                <a:gd name="connsiteX6" fmla="*/ 2599424 w 3181348"/>
                <a:gd name="connsiteY6" fmla="*/ 366615 h 1838394"/>
                <a:gd name="connsiteX7" fmla="*/ 2594954 w 3181348"/>
                <a:gd name="connsiteY7" fmla="*/ 455145 h 1838394"/>
                <a:gd name="connsiteX8" fmla="*/ 1495053 w 3181348"/>
                <a:gd name="connsiteY8" fmla="*/ 1447712 h 1838394"/>
                <a:gd name="connsiteX9" fmla="*/ 395152 w 3181348"/>
                <a:gd name="connsiteY9" fmla="*/ 455145 h 1838394"/>
                <a:gd name="connsiteX10" fmla="*/ 390682 w 3181348"/>
                <a:gd name="connsiteY10" fmla="*/ 366615 h 1838394"/>
                <a:gd name="connsiteX11" fmla="*/ 0 w 3181348"/>
                <a:gd name="connsiteY11" fmla="*/ 366615 h 1838394"/>
                <a:gd name="connsiteX12" fmla="*/ 6487 w 3181348"/>
                <a:gd name="connsiteY12" fmla="*/ 495090 h 1838394"/>
                <a:gd name="connsiteX13" fmla="*/ 1495053 w 3181348"/>
                <a:gd name="connsiteY13" fmla="*/ 1838394 h 183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81348" h="1838394">
                  <a:moveTo>
                    <a:pt x="1495053" y="1838394"/>
                  </a:moveTo>
                  <a:cubicBezTo>
                    <a:pt x="2269783" y="1838394"/>
                    <a:pt x="2906994" y="1249604"/>
                    <a:pt x="2983619" y="495090"/>
                  </a:cubicBezTo>
                  <a:lnTo>
                    <a:pt x="2990107" y="366615"/>
                  </a:lnTo>
                  <a:lnTo>
                    <a:pt x="3181348" y="366615"/>
                  </a:lnTo>
                  <a:lnTo>
                    <a:pt x="2795400" y="0"/>
                  </a:lnTo>
                  <a:lnTo>
                    <a:pt x="2409452" y="366615"/>
                  </a:lnTo>
                  <a:lnTo>
                    <a:pt x="2599424" y="366615"/>
                  </a:lnTo>
                  <a:lnTo>
                    <a:pt x="2594954" y="455145"/>
                  </a:lnTo>
                  <a:cubicBezTo>
                    <a:pt x="2538336" y="1012655"/>
                    <a:pt x="2067501" y="1447712"/>
                    <a:pt x="1495053" y="1447712"/>
                  </a:cubicBezTo>
                  <a:cubicBezTo>
                    <a:pt x="922605" y="1447712"/>
                    <a:pt x="451771" y="1012655"/>
                    <a:pt x="395152" y="455145"/>
                  </a:cubicBezTo>
                  <a:lnTo>
                    <a:pt x="390682" y="366615"/>
                  </a:lnTo>
                  <a:lnTo>
                    <a:pt x="0" y="366615"/>
                  </a:lnTo>
                  <a:lnTo>
                    <a:pt x="6487" y="495090"/>
                  </a:lnTo>
                  <a:cubicBezTo>
                    <a:pt x="83112" y="1249604"/>
                    <a:pt x="720323" y="1838394"/>
                    <a:pt x="1495053" y="18383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lvl="0" indent="0" algn="ctr" defTabSz="410765">
                <a:lnSpc>
                  <a:spcPct val="100000"/>
                </a:lnSpc>
                <a:buClrTx/>
                <a:buSzTx/>
                <a:buFontTx/>
                <a:buNone/>
                <a:defRPr sz="1800">
                  <a:solidFill>
                    <a:schemeClr val="lt1">
                      <a:alpha val="100000"/>
                    </a:schemeClr>
                  </a:solidFill>
                </a:defRPr>
              </a:pPr>
              <a:endParaRPr lang="zh-CN" sz="3200" b="false" i="false" u="none" strike="noStrike" spc="0" baseline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sym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 rot="0" flipH="false" flipV="true">
              <a:off x="1644580" y="2439712"/>
              <a:ext cx="2629487" cy="1519491"/>
            </a:xfrm>
            <a:custGeom>
              <a:avLst/>
              <a:gdLst>
                <a:gd name="connsiteX0" fmla="*/ 1495053 w 3181348"/>
                <a:gd name="connsiteY0" fmla="*/ 1838394 h 1838394"/>
                <a:gd name="connsiteX1" fmla="*/ 2983619 w 3181348"/>
                <a:gd name="connsiteY1" fmla="*/ 495090 h 1838394"/>
                <a:gd name="connsiteX2" fmla="*/ 2990107 w 3181348"/>
                <a:gd name="connsiteY2" fmla="*/ 366615 h 1838394"/>
                <a:gd name="connsiteX3" fmla="*/ 3181348 w 3181348"/>
                <a:gd name="connsiteY3" fmla="*/ 366615 h 1838394"/>
                <a:gd name="connsiteX4" fmla="*/ 2795400 w 3181348"/>
                <a:gd name="connsiteY4" fmla="*/ 0 h 1838394"/>
                <a:gd name="connsiteX5" fmla="*/ 2409452 w 3181348"/>
                <a:gd name="connsiteY5" fmla="*/ 366615 h 1838394"/>
                <a:gd name="connsiteX6" fmla="*/ 2599424 w 3181348"/>
                <a:gd name="connsiteY6" fmla="*/ 366615 h 1838394"/>
                <a:gd name="connsiteX7" fmla="*/ 2594954 w 3181348"/>
                <a:gd name="connsiteY7" fmla="*/ 455145 h 1838394"/>
                <a:gd name="connsiteX8" fmla="*/ 1495053 w 3181348"/>
                <a:gd name="connsiteY8" fmla="*/ 1447712 h 1838394"/>
                <a:gd name="connsiteX9" fmla="*/ 395152 w 3181348"/>
                <a:gd name="connsiteY9" fmla="*/ 455145 h 1838394"/>
                <a:gd name="connsiteX10" fmla="*/ 390682 w 3181348"/>
                <a:gd name="connsiteY10" fmla="*/ 366615 h 1838394"/>
                <a:gd name="connsiteX11" fmla="*/ 0 w 3181348"/>
                <a:gd name="connsiteY11" fmla="*/ 366615 h 1838394"/>
                <a:gd name="connsiteX12" fmla="*/ 6487 w 3181348"/>
                <a:gd name="connsiteY12" fmla="*/ 495090 h 1838394"/>
                <a:gd name="connsiteX13" fmla="*/ 1495053 w 3181348"/>
                <a:gd name="connsiteY13" fmla="*/ 1838394 h 1838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81348" h="1838394">
                  <a:moveTo>
                    <a:pt x="1495053" y="1838394"/>
                  </a:moveTo>
                  <a:cubicBezTo>
                    <a:pt x="2269783" y="1838394"/>
                    <a:pt x="2906994" y="1249604"/>
                    <a:pt x="2983619" y="495090"/>
                  </a:cubicBezTo>
                  <a:lnTo>
                    <a:pt x="2990107" y="366615"/>
                  </a:lnTo>
                  <a:lnTo>
                    <a:pt x="3181348" y="366615"/>
                  </a:lnTo>
                  <a:lnTo>
                    <a:pt x="2795400" y="0"/>
                  </a:lnTo>
                  <a:lnTo>
                    <a:pt x="2409452" y="366615"/>
                  </a:lnTo>
                  <a:lnTo>
                    <a:pt x="2599424" y="366615"/>
                  </a:lnTo>
                  <a:lnTo>
                    <a:pt x="2594954" y="455145"/>
                  </a:lnTo>
                  <a:cubicBezTo>
                    <a:pt x="2538336" y="1012655"/>
                    <a:pt x="2067501" y="1447712"/>
                    <a:pt x="1495053" y="1447712"/>
                  </a:cubicBezTo>
                  <a:cubicBezTo>
                    <a:pt x="922605" y="1447712"/>
                    <a:pt x="451771" y="1012655"/>
                    <a:pt x="395152" y="455145"/>
                  </a:cubicBezTo>
                  <a:lnTo>
                    <a:pt x="390682" y="366615"/>
                  </a:lnTo>
                  <a:lnTo>
                    <a:pt x="0" y="366615"/>
                  </a:lnTo>
                  <a:lnTo>
                    <a:pt x="6487" y="495090"/>
                  </a:lnTo>
                  <a:cubicBezTo>
                    <a:pt x="83112" y="1249604"/>
                    <a:pt x="720323" y="1838394"/>
                    <a:pt x="1495053" y="18383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marL="0" lvl="0" indent="0" algn="ctr" defTabSz="410765">
                <a:lnSpc>
                  <a:spcPct val="100000"/>
                </a:lnSpc>
                <a:buClrTx/>
                <a:buSzTx/>
                <a:buFontTx/>
                <a:buNone/>
                <a:defRPr sz="1800">
                  <a:solidFill>
                    <a:schemeClr val="lt1">
                      <a:alpha val="100000"/>
                    </a:schemeClr>
                  </a:solidFill>
                </a:defRPr>
              </a:pPr>
              <a:endParaRPr lang="zh-CN" sz="3200" b="false" i="false" u="none" strike="noStrike" spc="0" baseline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sym typeface="Arial"/>
              </a:endParaRPr>
            </a:p>
          </p:txBody>
        </p:sp>
      </p:grpSp>
      <p:grpSp>
        <p:nvGrpSpPr>
          <p:cNvPr id="154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1449131" y="1323198"/>
            <a:ext cx="9287388" cy="4912502"/>
            <a:chOff x="1452306" y="1130300"/>
            <a:chExt cx="9287388" cy="4912502"/>
          </a:xfrm>
        </p:grpSpPr>
        <p:grpSp>
          <p:nvGrpSpPr>
            <p:cNvPr id="155" name=""/>
            <p:cNvGrpSpPr/>
            <p:nvPr/>
          </p:nvGrpSpPr>
          <p:grpSpPr>
            <a:xfrm>
              <a:off x="1452306" y="2999187"/>
              <a:ext cx="2855962" cy="3043615"/>
              <a:chOff x="1452306" y="2999187"/>
              <a:chExt cx="2855962" cy="3043615"/>
            </a:xfrm>
          </p:grpSpPr>
          <p:sp>
            <p:nvSpPr>
              <p:cNvPr id="156" name="" descr="{&quot;isTemplate&quot;:true,&quot;type&quot;:&quot;serialNumber&quot;}"/>
              <p:cNvSpPr/>
              <p:nvPr/>
            </p:nvSpPr>
            <p:spPr>
              <a:xfrm rot="0" flipH="false" flipV="false">
                <a:off x="2203030" y="2999187"/>
                <a:ext cx="1354515" cy="1354515"/>
              </a:xfrm>
              <a:prstGeom prst="ellipse">
                <a:avLst/>
              </a:prstGeom>
              <a:solidFill>
                <a:schemeClr val="bg1"/>
              </a:solidFill>
              <a:ln w="38100" cap="flat">
                <a:solidFill>
                  <a:schemeClr val="accent1">
                    <a:alpha val="10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marL="0" lvl="0" indent="0" algn="ctr" defTabSz="914400">
                  <a:lnSpc>
                    <a:spcPct val="10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en-US" sz="2400" b="true" u="none" strike="noStrike">
                    <a:ln>
                      <a:noFill/>
                    </a:ln>
                    <a:solidFill>
                      <a:schemeClr val="accent1"/>
                    </a:solidFill>
                    <a:sym typeface="Arial"/>
                  </a:rPr>
                  <a:t>01</a:t>
                </a:r>
                <a:endParaRPr/>
              </a:p>
            </p:txBody>
          </p:sp>
          <p:sp>
            <p:nvSpPr>
              <p:cNvPr id="157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1452306" y="4842652"/>
                <a:ext cx="2855962" cy="1200150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ctr" defTabSz="866943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严格按照PEP8规范编写代码，统一缩进、命名等风格，提升代码可读性与团队协作效率。</a:t>
                </a:r>
                <a:endParaRPr/>
              </a:p>
            </p:txBody>
          </p:sp>
          <p:sp>
            <p:nvSpPr>
              <p:cNvPr id="158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1752599" y="4353702"/>
                <a:ext cx="2171700" cy="488950"/>
              </a:xfrm>
              <a:prstGeom prst="rect">
                <a:avLst/>
              </a:prstGeom>
              <a:ln w="6350">
                <a:prstDash val="solid"/>
              </a:ln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遵循PEP8规范</a:t>
                </a:r>
                <a:endParaRPr/>
              </a:p>
            </p:txBody>
          </p:sp>
        </p:grpSp>
        <p:grpSp>
          <p:nvGrpSpPr>
            <p:cNvPr id="159" name=""/>
            <p:cNvGrpSpPr/>
            <p:nvPr/>
          </p:nvGrpSpPr>
          <p:grpSpPr>
            <a:xfrm>
              <a:off x="3596115" y="1130300"/>
              <a:ext cx="2855962" cy="3223402"/>
              <a:chOff x="3596115" y="1130300"/>
              <a:chExt cx="2855962" cy="3223402"/>
            </a:xfrm>
          </p:grpSpPr>
          <p:sp>
            <p:nvSpPr>
              <p:cNvPr id="160" name="" descr="{&quot;isTemplate&quot;:true,&quot;type&quot;:&quot;serialNumber&quot;}"/>
              <p:cNvSpPr/>
              <p:nvPr/>
            </p:nvSpPr>
            <p:spPr>
              <a:xfrm rot="0" flipH="false" flipV="false">
                <a:off x="4346838" y="2999187"/>
                <a:ext cx="1354515" cy="1354515"/>
              </a:xfrm>
              <a:prstGeom prst="ellipse">
                <a:avLst/>
              </a:prstGeom>
              <a:solidFill>
                <a:schemeClr val="bg1"/>
              </a:solidFill>
              <a:ln w="38100" cap="flat">
                <a:solidFill>
                  <a:schemeClr val="accent2">
                    <a:alpha val="10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marL="0" lvl="0" indent="0" algn="ctr" defTabSz="914400">
                  <a:lnSpc>
                    <a:spcPct val="10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en-US" sz="2400" b="true" u="none" strike="noStrike">
                    <a:ln>
                      <a:noFill/>
                    </a:ln>
                    <a:solidFill>
                      <a:schemeClr val="accent2"/>
                    </a:solidFill>
                    <a:sym typeface="Arial"/>
                  </a:rPr>
                  <a:t>02</a:t>
                </a:r>
                <a:endParaRPr/>
              </a:p>
            </p:txBody>
          </p:sp>
          <p:sp>
            <p:nvSpPr>
              <p:cNvPr id="161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3596115" y="1619250"/>
                <a:ext cx="2855962" cy="1200150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ctr" defTabSz="866943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掌握提炼函数、简化逻辑等重构技巧，消除重复代码，让程序结构更清晰易维护。</a:t>
                </a:r>
                <a:endParaRPr/>
              </a:p>
            </p:txBody>
          </p:sp>
          <p:sp>
            <p:nvSpPr>
              <p:cNvPr id="162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3896408" y="1130300"/>
                <a:ext cx="2171700" cy="488950"/>
              </a:xfrm>
              <a:prstGeom prst="rect">
                <a:avLst/>
              </a:prstGeom>
              <a:ln w="6350">
                <a:prstDash val="solid"/>
              </a:ln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代码重构技巧</a:t>
                </a:r>
                <a:endParaRPr/>
              </a:p>
            </p:txBody>
          </p:sp>
        </p:grpSp>
        <p:grpSp>
          <p:nvGrpSpPr>
            <p:cNvPr id="163" name=""/>
            <p:cNvGrpSpPr/>
            <p:nvPr/>
          </p:nvGrpSpPr>
          <p:grpSpPr>
            <a:xfrm>
              <a:off x="5739922" y="2999187"/>
              <a:ext cx="2855962" cy="3043615"/>
              <a:chOff x="5739922" y="2999187"/>
              <a:chExt cx="2855962" cy="3043615"/>
            </a:xfrm>
          </p:grpSpPr>
          <p:sp>
            <p:nvSpPr>
              <p:cNvPr id="164" name="" descr="{&quot;isTemplate&quot;:true,&quot;type&quot;:&quot;serialNumber&quot;}"/>
              <p:cNvSpPr/>
              <p:nvPr/>
            </p:nvSpPr>
            <p:spPr>
              <a:xfrm rot="0" flipH="false" flipV="false">
                <a:off x="6490646" y="2999187"/>
                <a:ext cx="1354515" cy="1354515"/>
              </a:xfrm>
              <a:prstGeom prst="ellipse">
                <a:avLst/>
              </a:prstGeom>
              <a:solidFill>
                <a:schemeClr val="bg1"/>
              </a:solidFill>
              <a:ln w="38100" cap="flat">
                <a:solidFill>
                  <a:schemeClr val="accent1">
                    <a:alpha val="10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marL="0" lvl="0" indent="0" algn="ctr" defTabSz="914400">
                  <a:lnSpc>
                    <a:spcPct val="10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en-US" sz="2400" b="true" u="none" strike="noStrike">
                    <a:ln>
                      <a:noFill/>
                    </a:ln>
                    <a:solidFill>
                      <a:schemeClr val="accent1"/>
                    </a:solidFill>
                    <a:sym typeface="Arial"/>
                  </a:rPr>
                  <a:t>03</a:t>
                </a:r>
                <a:endParaRPr/>
              </a:p>
            </p:txBody>
          </p:sp>
          <p:sp>
            <p:nvSpPr>
              <p:cNvPr id="165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5739922" y="4842652"/>
                <a:ext cx="2855962" cy="1200150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ctr" defTabSz="866943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通过算法优化、减少冗余计算等方法提升代码运行效率，降低资源占用。</a:t>
                </a:r>
                <a:endParaRPr/>
              </a:p>
            </p:txBody>
          </p:sp>
          <p:sp>
            <p:nvSpPr>
              <p:cNvPr id="166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040215" y="4353702"/>
                <a:ext cx="2171700" cy="488950"/>
              </a:xfrm>
              <a:prstGeom prst="rect">
                <a:avLst/>
              </a:prstGeom>
              <a:ln w="6350">
                <a:prstDash val="solid"/>
              </a:ln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性能优化方法</a:t>
                </a:r>
                <a:endParaRPr/>
              </a:p>
            </p:txBody>
          </p:sp>
        </p:grpSp>
        <p:grpSp>
          <p:nvGrpSpPr>
            <p:cNvPr id="167" name=""/>
            <p:cNvGrpSpPr/>
            <p:nvPr/>
          </p:nvGrpSpPr>
          <p:grpSpPr>
            <a:xfrm>
              <a:off x="7883732" y="1130300"/>
              <a:ext cx="2855962" cy="3223402"/>
              <a:chOff x="7883732" y="1130300"/>
              <a:chExt cx="2855962" cy="3223402"/>
            </a:xfrm>
          </p:grpSpPr>
          <p:sp>
            <p:nvSpPr>
              <p:cNvPr id="168" name="" descr="{&quot;isTemplate&quot;:true,&quot;type&quot;:&quot;serialNumber&quot;}"/>
              <p:cNvSpPr/>
              <p:nvPr/>
            </p:nvSpPr>
            <p:spPr>
              <a:xfrm rot="0" flipH="false" flipV="false">
                <a:off x="8634455" y="2999187"/>
                <a:ext cx="1354515" cy="1354515"/>
              </a:xfrm>
              <a:prstGeom prst="ellipse">
                <a:avLst/>
              </a:prstGeom>
              <a:solidFill>
                <a:schemeClr val="bg1"/>
              </a:solidFill>
              <a:ln w="38100" cap="flat">
                <a:solidFill>
                  <a:schemeClr val="accent2">
                    <a:alpha val="100000"/>
                  </a:schemeClr>
                </a:solidFill>
                <a:prstDash val="solid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marL="0" lvl="0" indent="0" algn="ctr" defTabSz="914400">
                  <a:lnSpc>
                    <a:spcPct val="100000"/>
                  </a:lnSpc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en-US" sz="2400" b="true" u="none" strike="noStrike">
                    <a:ln>
                      <a:noFill/>
                    </a:ln>
                    <a:solidFill>
                      <a:schemeClr val="accent2"/>
                    </a:solidFill>
                    <a:sym typeface="Arial"/>
                  </a:rPr>
                  <a:t>04</a:t>
                </a:r>
                <a:endParaRPr/>
              </a:p>
            </p:txBody>
          </p:sp>
          <p:sp>
            <p:nvSpPr>
              <p:cNvPr id="169" name="" descr="{&quot;isTemplate&quot;:true,&quot;type&quot;:&quot;content&quot;,&quot;canOmit&quot;:true}"/>
              <p:cNvSpPr/>
              <p:nvPr/>
            </p:nvSpPr>
            <p:spPr>
              <a:xfrm rot="0" flipH="false" flipV="false">
                <a:off x="7883732" y="1619250"/>
                <a:ext cx="2855962" cy="1200150"/>
              </a:xfrm>
              <a:prstGeom prst="rect">
                <a:avLst/>
              </a:prstGeom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lvl="0" indent="0" algn="ctr" defTabSz="866943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ClrTx/>
                  <a:buSzTx/>
                  <a:buFontTx/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规范编写注释与说明文档，清晰阐述代码功能与逻辑，方便后续查阅维护。</a:t>
                </a:r>
                <a:endParaRPr/>
              </a:p>
            </p:txBody>
          </p:sp>
          <p:sp>
            <p:nvSpPr>
              <p:cNvPr id="170" name="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184025" y="1130300"/>
                <a:ext cx="2171700" cy="488950"/>
              </a:xfrm>
              <a:prstGeom prst="rect">
                <a:avLst/>
              </a:prstGeom>
              <a:ln w="6350">
                <a:prstDash val="solid"/>
              </a:ln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</a:pPr>
                <a:r>
                  <a:rPr lang="zh-CN" sz="2000" b="true">
                    <a:solidFill>
                      <a:schemeClr val="tx1"/>
                    </a:solidFill>
                  </a:rPr>
                  <a:t>文档编写要求</a:t>
                </a:r>
                <a:endParaRPr/>
              </a:p>
            </p:txBody>
          </p:sp>
        </p:grpSp>
      </p:grpSp>
      <p:sp>
        <p:nvSpPr>
          <p:cNvPr id="171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代码规范与优化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72" name="" descr="{&quot;isTemplate&quot;:true,&quot;type&quot;:&quot;page&quot;,&quot;originSlideId&quot;:&quot;38960f5d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20"/>
          <p:cNvSpPr/>
          <p:nvPr/>
        </p:nvSpPr>
        <p:spPr>
          <a:xfrm rot="5400000" flipH="false" flipV="false">
            <a:off x="3538140" y="4276031"/>
            <a:ext cx="5115721" cy="48217"/>
          </a:xfrm>
          <a:prstGeom prst="rect">
            <a:avLst/>
          </a:prstGeom>
          <a:gradFill rotWithShape="true">
            <a:gsLst>
              <a:gs pos="0">
                <a:schemeClr val="bg1"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  <a:gs pos="90000">
                <a:schemeClr val="accent1">
                  <a:alpha val="100000"/>
                </a:schemeClr>
              </a:gs>
            </a:gsLst>
            <a:lin ang="0" scaled="true"/>
          </a:gra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 defTabSz="964326"/>
            <a:endParaRPr lang="zh-CN" sz="1898">
              <a:solidFill>
                <a:srgbClr val="FFFFFF">
                  <a:alpha val="100000"/>
                </a:srgbClr>
              </a:solidFill>
            </a:endParaRPr>
          </a:p>
        </p:txBody>
      </p:sp>
      <p:grpSp>
        <p:nvGrpSpPr>
          <p:cNvPr id="174" name="" descr="{&quot;isTemplate&quot;:true,&quot;type&quot;:&quot;list&quot;,&quot;alignment&quot;:&quot;left&quot;,&quot;alignmentVertical&quot;:&quot;top&quot;,&quot;canOmit&quot;:false,&quot;scalable&quot;:false,&quot;minItemsCount&quot;:0}"/>
          <p:cNvGrpSpPr/>
          <p:nvPr/>
        </p:nvGrpSpPr>
        <p:grpSpPr>
          <a:xfrm>
            <a:off x="666750" y="1231900"/>
            <a:ext cx="10852150" cy="5003800"/>
            <a:chOff x="666750" y="1231900"/>
            <a:chExt cx="10852150" cy="5003800"/>
          </a:xfrm>
        </p:grpSpPr>
        <p:grpSp>
          <p:nvGrpSpPr>
            <p:cNvPr id="175" name=""/>
            <p:cNvGrpSpPr/>
            <p:nvPr/>
          </p:nvGrpSpPr>
          <p:grpSpPr>
            <a:xfrm>
              <a:off x="666750" y="1231900"/>
              <a:ext cx="3964308" cy="1689100"/>
              <a:chOff x="666750" y="1231900"/>
              <a:chExt cx="3964308" cy="1689100"/>
            </a:xfrm>
          </p:grpSpPr>
          <p:sp>
            <p:nvSpPr>
              <p:cNvPr id="176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66750" y="123190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官方文档查阅</a:t>
                </a:r>
                <a:endParaRPr/>
              </a:p>
            </p:txBody>
          </p:sp>
          <p:sp>
            <p:nvSpPr>
              <p:cNvPr id="177" name=""/>
              <p:cNvSpPr/>
              <p:nvPr/>
            </p:nvSpPr>
            <p:spPr>
              <a:xfrm rot="0" flipH="false" flipV="false">
                <a:off x="3907439" y="1490830"/>
                <a:ext cx="723619" cy="723619"/>
              </a:xfrm>
              <a:prstGeom prst="ellipse">
                <a:avLst/>
              </a:prstGeom>
              <a:solidFill>
                <a:schemeClr val="accent1">
                  <a:alpha val="10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8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3967565" y="1676929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01</a:t>
                </a:r>
                <a:endParaRPr/>
              </a:p>
            </p:txBody>
          </p:sp>
          <p:sp>
            <p:nvSpPr>
              <p:cNvPr id="179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172085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访问Python官网文档，查阅标准库与语法说明，随时解决编码中遇到的各类基础问题。</a:t>
                </a:r>
                <a:endParaRPr/>
              </a:p>
            </p:txBody>
          </p:sp>
        </p:grpSp>
        <p:grpSp>
          <p:nvGrpSpPr>
            <p:cNvPr id="180" name=""/>
            <p:cNvGrpSpPr/>
            <p:nvPr/>
          </p:nvGrpSpPr>
          <p:grpSpPr>
            <a:xfrm>
              <a:off x="666750" y="2889250"/>
              <a:ext cx="3964308" cy="1689100"/>
              <a:chOff x="666750" y="2889250"/>
              <a:chExt cx="3964308" cy="1689100"/>
            </a:xfrm>
          </p:grpSpPr>
          <p:sp>
            <p:nvSpPr>
              <p:cNvPr id="181" name=""/>
              <p:cNvSpPr/>
              <p:nvPr/>
            </p:nvSpPr>
            <p:spPr>
              <a:xfrm rot="0" flipH="false" flipV="false">
                <a:off x="3907439" y="3117062"/>
                <a:ext cx="723619" cy="723619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2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3968430" y="3303161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02</a:t>
                </a:r>
                <a:endParaRPr/>
              </a:p>
            </p:txBody>
          </p:sp>
          <p:sp>
            <p:nvSpPr>
              <p:cNvPr id="183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66750" y="288925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开源项目学习</a:t>
                </a:r>
                <a:endParaRPr/>
              </a:p>
            </p:txBody>
          </p:sp>
          <p:sp>
            <p:nvSpPr>
              <p:cNvPr id="184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337820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浏览GitHub优质项目，阅读示例代码，学习规范写法与工程化开发的实际思路。</a:t>
                </a:r>
                <a:endParaRPr/>
              </a:p>
            </p:txBody>
          </p:sp>
        </p:grpSp>
        <p:grpSp>
          <p:nvGrpSpPr>
            <p:cNvPr id="185" name=""/>
            <p:cNvGrpSpPr/>
            <p:nvPr/>
          </p:nvGrpSpPr>
          <p:grpSpPr>
            <a:xfrm>
              <a:off x="666750" y="4546600"/>
              <a:ext cx="3964308" cy="1689100"/>
              <a:chOff x="666750" y="4546600"/>
              <a:chExt cx="3964308" cy="1689100"/>
            </a:xfrm>
          </p:grpSpPr>
          <p:sp>
            <p:nvSpPr>
              <p:cNvPr id="186" name=""/>
              <p:cNvSpPr/>
              <p:nvPr/>
            </p:nvSpPr>
            <p:spPr>
              <a:xfrm rot="0" flipH="false" flipV="false">
                <a:off x="3907439" y="4774412"/>
                <a:ext cx="723619" cy="723619"/>
              </a:xfrm>
              <a:prstGeom prst="ellipse">
                <a:avLst/>
              </a:prstGeom>
              <a:solidFill>
                <a:schemeClr val="accent1">
                  <a:alpha val="10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7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3968430" y="4960511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03</a:t>
                </a:r>
                <a:endParaRPr/>
              </a:p>
            </p:txBody>
          </p:sp>
          <p:sp>
            <p:nvSpPr>
              <p:cNvPr id="188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666750" y="454660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技术社区交流</a:t>
                </a:r>
                <a:endParaRPr/>
              </a:p>
            </p:txBody>
          </p:sp>
          <p:sp>
            <p:nvSpPr>
              <p:cNvPr id="189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666750" y="503555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在热门技术论坛提问交流，分享开发心得，快速获取问题解决方案与行业新动态。</a:t>
                </a:r>
                <a:endParaRPr/>
              </a:p>
            </p:txBody>
          </p:sp>
        </p:grpSp>
        <p:grpSp>
          <p:nvGrpSpPr>
            <p:cNvPr id="190" name=""/>
            <p:cNvGrpSpPr/>
            <p:nvPr/>
          </p:nvGrpSpPr>
          <p:grpSpPr>
            <a:xfrm>
              <a:off x="7227503" y="1231900"/>
              <a:ext cx="4291397" cy="1689100"/>
              <a:chOff x="7227503" y="1231900"/>
              <a:chExt cx="4291397" cy="1689100"/>
            </a:xfrm>
          </p:grpSpPr>
          <p:sp>
            <p:nvSpPr>
              <p:cNvPr id="191" name=""/>
              <p:cNvSpPr/>
              <p:nvPr/>
            </p:nvSpPr>
            <p:spPr>
              <a:xfrm rot="0" flipH="false" flipV="false">
                <a:off x="7227503" y="1468666"/>
                <a:ext cx="723619" cy="723619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2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7287629" y="1654765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04</a:t>
                </a:r>
                <a:endParaRPr/>
              </a:p>
            </p:txBody>
          </p:sp>
          <p:sp>
            <p:nvSpPr>
              <p:cNvPr id="193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661400" y="123190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algn="r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在线课程选择</a:t>
                </a:r>
                <a:endParaRPr/>
              </a:p>
            </p:txBody>
          </p:sp>
          <p:sp>
            <p:nvSpPr>
              <p:cNvPr id="194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661400" y="172085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对比不同平台的课程内容，选择匹配自身水平的系统课，按节奏完成知识储备。</a:t>
                </a:r>
                <a:endParaRPr/>
              </a:p>
            </p:txBody>
          </p:sp>
        </p:grpSp>
        <p:grpSp>
          <p:nvGrpSpPr>
            <p:cNvPr id="195" name=""/>
            <p:cNvGrpSpPr/>
            <p:nvPr/>
          </p:nvGrpSpPr>
          <p:grpSpPr>
            <a:xfrm>
              <a:off x="7227503" y="2889250"/>
              <a:ext cx="4291397" cy="1689100"/>
              <a:chOff x="7227503" y="2889250"/>
              <a:chExt cx="4291397" cy="1689100"/>
            </a:xfrm>
          </p:grpSpPr>
          <p:sp>
            <p:nvSpPr>
              <p:cNvPr id="196" name=""/>
              <p:cNvSpPr/>
              <p:nvPr/>
            </p:nvSpPr>
            <p:spPr>
              <a:xfrm rot="0" flipH="false" flipV="false">
                <a:off x="7227503" y="3094898"/>
                <a:ext cx="723619" cy="723619"/>
              </a:xfrm>
              <a:prstGeom prst="ellipse">
                <a:avLst/>
              </a:prstGeom>
              <a:solidFill>
                <a:schemeClr val="accent1">
                  <a:alpha val="10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7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7287628" y="3280997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05</a:t>
                </a:r>
                <a:endParaRPr/>
              </a:p>
            </p:txBody>
          </p:sp>
          <p:sp>
            <p:nvSpPr>
              <p:cNvPr id="198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661400" y="288925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algn="r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书籍推荐阅读</a:t>
                </a:r>
                <a:endParaRPr/>
              </a:p>
            </p:txBody>
          </p:sp>
          <p:sp>
            <p:nvSpPr>
              <p:cNvPr id="199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661400" y="337820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挑选经典入门与进阶书籍，利用碎片时间巩固核心概念，构建完整知识体系。</a:t>
                </a:r>
                <a:endParaRPr/>
              </a:p>
            </p:txBody>
          </p:sp>
        </p:grpSp>
        <p:grpSp>
          <p:nvGrpSpPr>
            <p:cNvPr id="200" name=""/>
            <p:cNvGrpSpPr/>
            <p:nvPr/>
          </p:nvGrpSpPr>
          <p:grpSpPr>
            <a:xfrm>
              <a:off x="7227503" y="4546600"/>
              <a:ext cx="4291397" cy="1689100"/>
              <a:chOff x="7227503" y="4546600"/>
              <a:chExt cx="4291397" cy="1689100"/>
            </a:xfrm>
          </p:grpSpPr>
          <p:sp>
            <p:nvSpPr>
              <p:cNvPr id="201" name=""/>
              <p:cNvSpPr/>
              <p:nvPr/>
            </p:nvSpPr>
            <p:spPr>
              <a:xfrm rot="0" flipH="false" flipV="false">
                <a:off x="7227503" y="4752248"/>
                <a:ext cx="723619" cy="723619"/>
              </a:xfrm>
              <a:prstGeom prst="ellipse">
                <a:avLst/>
              </a:prstGeom>
              <a:solidFill>
                <a:schemeClr val="accent2">
                  <a:alpha val="10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false" vertOverflow="overflow" horzOverflow="overflow" vert="horz" wrap="square" lIns="96435" tIns="48218" rIns="96435" bIns="48218" numCol="1" spcCol="0" rtlCol="false" fromWordArt="false" anchor="ctr" anchorCtr="false" forceAA="false" compatLnSpc="true">
                <a:prstTxWarp prst="textNoShape">
                  <a:avLst/>
                </a:prstTxWarp>
                <a:noAutofit/>
              </a:bodyPr>
              <a:lstStyle/>
              <a:p>
                <a:pPr algn="ctr" defTabSz="964326"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endParaRPr lang="zh-CN" b="true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sx="100000" sy="1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2" name="文本框" descr="{&quot;isTemplate&quot;:true,&quot;type&quot;:&quot;serialNumber&quot;}"/>
              <p:cNvSpPr/>
              <p:nvPr/>
            </p:nvSpPr>
            <p:spPr>
              <a:xfrm rot="0" flipH="false" flipV="false">
                <a:off x="7287628" y="4938347"/>
                <a:ext cx="609600" cy="37465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algn="ctr" defTabSz="964326">
                  <a:defRPr sz="1800">
                    <a:solidFill>
                      <a:schemeClr val="bg1">
                        <a:alpha val="100000"/>
                      </a:schemeClr>
                    </a:solidFill>
                  </a:defRPr>
                </a:pPr>
                <a:r>
                  <a:rPr lang="en-US" b="true">
                    <a:solidFill>
                      <a:schemeClr val="bg1"/>
                    </a:solidFill>
                  </a:rPr>
                  <a:t>06</a:t>
                </a:r>
                <a:endParaRPr/>
              </a:p>
            </p:txBody>
          </p:sp>
          <p:sp>
            <p:nvSpPr>
              <p:cNvPr id="203" name="文本框 14" descr="{&quot;isTemplate&quot;:true,&quot;type&quot;:&quot;title&quot;,&quot;canOmit&quot;:false}"/>
              <p:cNvSpPr txBox="true"/>
              <p:nvPr/>
            </p:nvSpPr>
            <p:spPr>
              <a:xfrm rot="0" flipH="false" flipV="false">
                <a:off x="8661400" y="4546600"/>
                <a:ext cx="2857500" cy="4889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marL="0" indent="0" algn="r"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buNone/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2000" b="true">
                    <a:solidFill>
                      <a:schemeClr val="tx1"/>
                    </a:solidFill>
                  </a:rPr>
                  <a:t>持续学习计划</a:t>
                </a:r>
                <a:endParaRPr/>
              </a:p>
            </p:txBody>
          </p:sp>
          <p:sp>
            <p:nvSpPr>
              <p:cNvPr id="204" name="文本框 14" descr="{&quot;isTemplate&quot;:true,&quot;type&quot;:&quot;content&quot;,&quot;canOmit&quot;:true}"/>
              <p:cNvSpPr txBox="true"/>
              <p:nvPr/>
            </p:nvSpPr>
            <p:spPr>
              <a:xfrm rot="0" flipH="false" flipV="false">
                <a:off x="8661400" y="5035550"/>
                <a:ext cx="2857500" cy="1200150"/>
              </a:xfrm>
              <a:prstGeom prst="rect">
                <a:avLst/>
              </a:prstGeom>
              <a:noFill/>
              <a:ln/>
            </p:spPr>
            <p:txBody>
              <a:bodyPr vert="horz" wrap="square" lIns="90043" tIns="46863" rIns="90043" bIns="46863">
                <a:noAutofit/>
              </a:bodyPr>
              <a:lstStyle/>
              <a:p>
                <a:pPr defTabSz="964326">
                  <a:lnSpc>
                    <a:spcPct val="130000"/>
                  </a:lnSpc>
                  <a:spcBef>
                    <a:spcPct val="1"/>
                  </a:spcBef>
                  <a:spcAft>
                    <a:spcPct val="1"/>
                  </a:spcAft>
                  <a:defRPr sz="1800">
                    <a:solidFill>
                      <a:schemeClr val="tx1">
                        <a:alpha val="100000"/>
                      </a:schemeClr>
                    </a:solidFill>
                  </a:defRPr>
                </a:pPr>
                <a:r>
                  <a:rPr lang="zh-CN" sz="1400" b="false">
                    <a:solidFill>
                      <a:schemeClr val="tx1"/>
                    </a:solidFill>
                  </a:rPr>
                  <a:t>制定每周学习目标，定期复盘知识掌握情况，保持长期稳定的编码练习节奏。</a:t>
                </a:r>
                <a:endParaRPr/>
              </a:p>
            </p:txBody>
          </p:sp>
        </p:grpSp>
      </p:grpSp>
      <p:sp>
        <p:nvSpPr>
          <p:cNvPr id="205" name="文本框 2" descr="{&quot;isTemplate&quot;:true,&quot;type&quot;:&quot;title&quot;}"/>
          <p:cNvSpPr txBox="true"/>
          <p:nvPr/>
        </p:nvSpPr>
        <p:spPr>
          <a:xfrm rot="0" flipH="false" flipV="false">
            <a:off x="1524000" y="321522"/>
            <a:ext cx="9752072" cy="723900"/>
          </a:xfrm>
          <a:prstGeom prst="rect"/>
          <a:noFill/>
        </p:spPr>
        <p:txBody>
          <a:bodyPr vert="horz" wrap="square">
            <a:spAutoFit/>
          </a:bodyPr>
          <a:lstStyle>
            <a:lvl1pPr lvl="0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苏新诗古印宋简"/>
                <a:ea typeface="苏新诗古印宋简"/>
              </a:defRPr>
            </a:lvl1pPr>
          </a:lstStyle>
          <a:p>
            <a:pPr marL="0" lvl="0" indent="0">
              <a:lnSpc>
                <a:spcPct val="130000"/>
              </a:lnSpc>
              <a:buNone/>
            </a:pPr>
            <a:r>
              <a:rPr lang="zh-CN" sz="3200" b="true">
                <a:latin typeface="微软雅黑"/>
                <a:ea typeface="微软雅黑"/>
              </a:rPr>
              <a:t>学习资源拓展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206" name="" descr="{&quot;isTemplate&quot;:true,&quot;type&quot;:&quot;ending&quot;,&quot;originSlideId&quot;:&quot;qkkk2gqk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12" descr="{&quot;type&quot;:&quot;text&quot;,&quot;isTemplate&quot;:true,&quot;__version&quot;:2}"/>
          <p:cNvSpPr txBox="true"/>
          <p:nvPr/>
        </p:nvSpPr>
        <p:spPr>
          <a:xfrm>
            <a:off x="6028857" y="2109353"/>
            <a:ext cx="5296621" cy="1825693"/>
          </a:xfrm>
          <a:prstGeom prst="rect"/>
          <a:noFill/>
        </p:spPr>
        <p:txBody>
          <a:bodyPr wrap="square">
            <a:spAutoFit/>
          </a:bodyPr>
          <a:p>
            <a:pPr defTabSz="914400">
              <a:lnSpc>
                <a:spcPct val="130000"/>
              </a:lnSpc>
              <a:buClrTx/>
              <a:buSzTx/>
              <a:buFontTx/>
            </a:pPr>
            <a:r>
              <a:rPr lang="zh-CN" sz="9600" b="true" kern="1200" spc="0" baseline="0">
                <a:solidFill>
                  <a:srgbClr val="36796A"/>
                </a:solidFill>
                <a:latin typeface="微软雅黑"/>
                <a:ea typeface="微软雅黑"/>
              </a:rPr>
              <a:t>谢谢大家</a:t>
            </a:r>
            <a:endParaRPr/>
          </a:p>
        </p:txBody>
      </p:sp>
      <p:sp>
        <p:nvSpPr>
          <p:cNvPr id="208" name="文本框 14" descr="{&quot;type&quot;:&quot;text&quot;,&quot;isTemplate&quot;:true,&quot;__version&quot;:2}"/>
          <p:cNvSpPr txBox="true"/>
          <p:nvPr/>
        </p:nvSpPr>
        <p:spPr>
          <a:xfrm>
            <a:off x="7715470" y="4889270"/>
            <a:ext cx="1701800" cy="488950"/>
          </a:xfrm>
          <a:prstGeom prst="rect"/>
          <a:noFill/>
        </p:spPr>
        <p:txBody>
          <a:bodyPr wrap="none">
            <a:spAutoFit/>
          </a:bodyPr>
          <a:p>
            <a:pPr defTabSz="901065">
              <a:lnSpc>
                <a:spcPct val="130000"/>
              </a:lnSpc>
              <a:buClrTx/>
              <a:buSzTx/>
              <a:buFontTx/>
            </a:pPr>
            <a:r>
              <a:rPr lang="zh-CN" sz="2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汇报人：</a:t>
            </a:r>
            <a:r>
              <a:rPr lang="en-US" sz="2000" b="true">
                <a:solidFill>
                  <a:srgbClr val="36796A">
                    <a:alpha val="100000"/>
                  </a:srgbClr>
                </a:solidFill>
                <a:latin typeface="微软雅黑"/>
                <a:ea typeface="微软雅黑"/>
              </a:rPr>
              <a:t>XXX</a:t>
            </a:r>
            <a:endParaRPr/>
          </a:p>
        </p:txBody>
      </p:sp>
      <p:sp>
        <p:nvSpPr>
          <p:cNvPr id="209" name="文本框 15" descr="{&quot;type&quot;:&quot;text&quot;,&quot;isTemplate&quot;:true,&quot;__version&quot;:2}"/>
          <p:cNvSpPr txBox="true"/>
          <p:nvPr/>
        </p:nvSpPr>
        <p:spPr>
          <a:xfrm>
            <a:off x="7676432" y="5498948"/>
            <a:ext cx="2665858" cy="453457"/>
          </a:xfrm>
          <a:prstGeom prst="rect"/>
          <a:noFill/>
        </p:spPr>
        <p:txBody>
          <a:bodyPr wrap="none">
            <a:spAutoFit/>
          </a:bodyPr>
          <a:p>
            <a:pPr defTabSz="901065">
              <a:lnSpc>
                <a:spcPct val="130000"/>
              </a:lnSpc>
              <a:buClrTx/>
              <a:buSzTx/>
              <a:buFontTx/>
            </a:pPr>
            <a:r>
              <a:rPr lang="zh-CN" sz="2000" b="true" kern="1200" spc="0" baseline="0">
                <a:solidFill>
                  <a:srgbClr val="36796A"/>
                </a:solidFill>
                <a:latin typeface="微软雅黑"/>
                <a:ea typeface="微软雅黑"/>
              </a:rPr>
              <a:t>日期：</a:t>
            </a:r>
            <a:r>
              <a:rPr lang="en-US" sz="2000" b="true" kern="1200" spc="0" baseline="0">
                <a:solidFill>
                  <a:srgbClr val="36796A"/>
                </a:solidFill>
                <a:latin typeface="微软雅黑"/>
                <a:ea typeface="微软雅黑"/>
              </a:rPr>
              <a:t>20XX.XX. XX </a:t>
            </a:r>
            <a:endParaRPr lang="zh-CN" sz="2000" b="true" kern="1200" spc="0" baseline="0">
              <a:solidFill>
                <a:srgbClr val="36796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14="http://schemas.microsoft.com/office/drawing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4">
  <p:cSld>
    <p:spTree>
      <p:nvGrpSpPr>
        <p:cNvPr id="233" name="" descr="{&quot;isTemplate&quot;:true,&quot;type&quot;:&quot;branding&quot;,&quot;originSlideId&quot;:&quot;df970edd&quot;}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">
            <a:hlinkClick r:id="rId1"/>
          </p:cNvPr>
          <p:cNvPicPr/>
          <p:nvPr/>
        </p:nvPicPr>
        <p:blipFill>
          <a:blip r:embed="rId2">
            <a:alphaModFix amt="100000"/>
            <a:extLst>
              <a:ext uri="">
                <a14:imgProps>
                  <a14:imgLayer>
                    <a14:imgEffect>
                      <a14:brightnessContrast bright="0" contrast="0"/>
                      <a14:colorTemperature colorTemp="6500"/>
                      <a14:saturation sat="100000"/>
                      <a14:sharpenSoften amount="0"/>
                    </a14:imgEffect>
                  </a14:imgLayer>
                </a14:imgProps>
              </a:ext>
            </a:extLst>
          </a:blip>
          <a:srcRect l="0" t="0" r="0" b="0"/>
          <a:stretch>
            <a:fillRect/>
          </a:stretch>
        </p:blipFill>
        <p:spPr>
          <a:xfrm rot="0" flipH="false" flipV="false">
            <a:off x="4876800" y="2051050"/>
            <a:ext cx="2438400" cy="2438400"/>
          </a:xfrm>
          <a:prstGeom prst="rect"/>
          <a:ln/>
        </p:spPr>
      </p:pic>
      <p:sp>
        <p:nvSpPr>
          <p:cNvPr id="235" name="" descr="{&quot;type&quot;:&quot;text&quot;,&quot;isTemplate&quot;:true,&quot;__version&quot;:2}"/>
          <p:cNvSpPr txBox="true"/>
          <p:nvPr/>
        </p:nvSpPr>
        <p:spPr>
          <a:xfrm rot="0" flipH="false" flipV="false">
            <a:off x="3079750" y="1129704"/>
            <a:ext cx="6057900" cy="5651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2400" b="tru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</a:rPr>
              <a:t>以上内容由腾讯文档</a:t>
            </a:r>
            <a:r>
              <a:rPr lang="en-US" sz="2400" b="tru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</a:rPr>
              <a:t>AI PPT</a:t>
            </a:r>
            <a:r>
              <a:rPr lang="zh-CN" sz="2400" b="tru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</a:rPr>
              <a:t>生成，仅供参考</a:t>
            </a:r>
            <a:endParaRPr/>
          </a:p>
        </p:txBody>
      </p:sp>
      <p:sp>
        <p:nvSpPr>
          <p:cNvPr id="236" name="" descr="{&quot;type&quot;:&quot;text&quot;,&quot;isTemplate&quot;:true,&quot;__version&quot;:2}"/>
          <p:cNvSpPr txBox="true"/>
          <p:nvPr/>
        </p:nvSpPr>
        <p:spPr>
          <a:xfrm rot="0" flipH="false" flipV="false">
            <a:off x="4352925" y="4845646"/>
            <a:ext cx="3486150" cy="8826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 algn="ctr"/>
            <a:r>
              <a:rPr lang="zh-CN" sz="2000" b="fals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</a:rPr>
              <a:t>扫码或点击链接快速生成</a:t>
            </a:r>
            <a:r>
              <a:rPr lang="en-US" sz="2000" b="fals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</a:rPr>
              <a:t>PPT</a:t>
            </a:r>
            <a:endParaRPr/>
          </a:p>
          <a:p>
            <a:pPr algn="ctr"/>
            <a:r>
              <a:rPr lang="en-US" sz="2000" b="false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hlinkClick r:id="rId1"/>
              </a:rPr>
              <a:t>https://docs.qq.com/ai/slide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DAFA3"/>
      </a:accent1>
      <a:accent2>
        <a:srgbClr val="325F6D"/>
      </a:accent2>
      <a:accent3>
        <a:srgbClr val="649654"/>
      </a:accent3>
      <a:accent4>
        <a:srgbClr val="538480"/>
      </a:accent4>
      <a:accent5>
        <a:srgbClr val="2E4B2C"/>
      </a:accent5>
      <a:accent6>
        <a:srgbClr val="AF7DA2"/>
      </a:accent6>
      <a:hlink>
        <a:srgbClr val="175CEB"/>
      </a:hlink>
      <a:folHlink>
        <a:srgbClr val="81868F"/>
      </a:folHlink>
    </a:clrScheme>
    <a:fontScheme name="Office">
      <a:majorFont>
        <a:latin typeface="等线"/>
        <a:ea typeface="等线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2026-06-26T10:41:05Z</dcterms:created>
  <dcterms:modified xsi:type="dcterms:W3CDTF">2026-06-26T10:41:05Z</dcterms:modified>
</cp:coreProperties>
</file>